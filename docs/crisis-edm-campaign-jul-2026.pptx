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3p-digital-logo.png"/>
          <p:cNvPicPr>
            <a:picLocks noChangeAspect="1"/>
          </p:cNvPicPr>
          <p:nvPr/>
        </p:nvPicPr>
        <p:blipFill>
          <a:blip r:embed="rId2"/>
          <a:stretch>
            <a:fillRect/>
          </a:stretch>
        </p:blipFill>
        <p:spPr>
          <a:xfrm>
            <a:off x="822960" y="685800"/>
            <a:ext cx="1584428" cy="566928"/>
          </a:xfrm>
          <a:prstGeom prst="rect">
            <a:avLst/>
          </a:prstGeom>
        </p:spPr>
      </p:pic>
      <p:pic>
        <p:nvPicPr>
          <p:cNvPr id="6" name="Picture 5" descr="my-pr-partner-logo-horz.png"/>
          <p:cNvPicPr>
            <a:picLocks noChangeAspect="1"/>
          </p:cNvPicPr>
          <p:nvPr/>
        </p:nvPicPr>
        <p:blipFill>
          <a:blip r:embed="rId3"/>
          <a:stretch>
            <a:fillRect/>
          </a:stretch>
        </p:blipFill>
        <p:spPr>
          <a:xfrm>
            <a:off x="9509760" y="658368"/>
            <a:ext cx="1644650" cy="621792"/>
          </a:xfrm>
          <a:prstGeom prst="rect">
            <a:avLst/>
          </a:prstGeom>
        </p:spPr>
      </p:pic>
      <p:sp>
        <p:nvSpPr>
          <p:cNvPr id="7" name="TextBox 6"/>
          <p:cNvSpPr txBox="1"/>
          <p:nvPr/>
        </p:nvSpPr>
        <p:spPr>
          <a:xfrm>
            <a:off x="822960" y="2331720"/>
            <a:ext cx="10515600" cy="2926080"/>
          </a:xfrm>
          <a:prstGeom prst="rect">
            <a:avLst/>
          </a:prstGeom>
          <a:noFill/>
        </p:spPr>
        <p:txBody>
          <a:bodyPr wrap="square" anchor="t">
            <a:spAutoFit/>
          </a:bodyPr>
          <a:lstStyle/>
          <a:p>
            <a:pPr algn="l">
              <a:spcAft>
                <a:spcPts val="600"/>
              </a:spcAft>
            </a:pPr>
            <a:r>
              <a:rPr sz="1500" b="1" i="0">
                <a:solidFill>
                  <a:srgbClr val="FF6B38"/>
                </a:solidFill>
                <a:latin typeface="Calibri"/>
              </a:rPr>
              <a:t>CRISIS MASTERCLASS</a:t>
            </a:r>
          </a:p>
          <a:p>
            <a:pPr algn="l">
              <a:spcAft>
                <a:spcPts val="600"/>
              </a:spcAft>
            </a:pPr>
            <a:r>
              <a:rPr sz="4300" b="1" i="0">
                <a:solidFill>
                  <a:srgbClr val="131A24"/>
                </a:solidFill>
                <a:latin typeface="Calibri"/>
              </a:rPr>
              <a:t>Cold outreach EDM campaign</a:t>
            </a:r>
          </a:p>
          <a:p>
            <a:pPr algn="l">
              <a:spcAft>
                <a:spcPts val="1800"/>
              </a:spcAft>
            </a:pPr>
            <a:r>
              <a:rPr sz="2000" b="0" i="0">
                <a:solidFill>
                  <a:srgbClr val="5B6473"/>
                </a:solidFill>
                <a:latin typeface="Calibri"/>
              </a:rPr>
              <a:t>Strategy, lead magnets and full email copy for your review</a:t>
            </a:r>
          </a:p>
          <a:p>
            <a:pPr algn="l"/>
            <a:r>
              <a:rPr sz="1200" b="0" i="0">
                <a:solidFill>
                  <a:srgbClr val="5B6473"/>
                </a:solidFill>
                <a:latin typeface="Calibri"/>
              </a:rPr>
              <a:t>Prepared by 3P Digital for My PR Partner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WHERE THIS FITS</a:t>
            </a:r>
          </a:p>
          <a:p>
            <a:pPr algn="l"/>
            <a:r>
              <a:rPr sz="2700" b="1" i="0">
                <a:solidFill>
                  <a:srgbClr val="131A24"/>
                </a:solidFill>
                <a:latin typeface="Calibri"/>
              </a:rPr>
              <a:t>One goal: enrolments before the end of July</a:t>
            </a:r>
          </a:p>
        </p:txBody>
      </p:sp>
      <p:sp>
        <p:nvSpPr>
          <p:cNvPr id="5" name="TextBox 4"/>
          <p:cNvSpPr txBox="1"/>
          <p:nvPr/>
        </p:nvSpPr>
        <p:spPr>
          <a:xfrm>
            <a:off x="822960" y="1828800"/>
            <a:ext cx="10515600" cy="4480560"/>
          </a:xfrm>
          <a:prstGeom prst="rect">
            <a:avLst/>
          </a:prstGeom>
          <a:noFill/>
        </p:spPr>
        <p:txBody>
          <a:bodyPr wrap="square" anchor="t">
            <a:spAutoFit/>
          </a:bodyPr>
          <a:lstStyle/>
          <a:p>
            <a:pPr algn="l">
              <a:spcBef>
                <a:spcPts val="600"/>
              </a:spcBef>
              <a:spcAft>
                <a:spcPts val="200"/>
              </a:spcAft>
            </a:pPr>
            <a:r>
              <a:rPr sz="1500" b="1" i="0">
                <a:solidFill>
                  <a:srgbClr val="131A24"/>
                </a:solidFill>
                <a:latin typeface="Calibri"/>
              </a:rPr>
              <a:t>The product is ready and the market is primed.</a:t>
            </a:r>
          </a:p>
          <a:p>
            <a:pPr algn="l">
              <a:spcAft>
                <a:spcPts val="400"/>
              </a:spcAft>
            </a:pPr>
            <a:r>
              <a:rPr sz="1250" b="0" i="0">
                <a:solidFill>
                  <a:srgbClr val="5B6473"/>
                </a:solidFill>
                <a:latin typeface="Calibri"/>
              </a:rPr>
              <a:t>Crisis Masterclass is live at $340/month (ex GST) with Melissa Agnes and the Crisis Ready Institute behind it. The Schools Program is live from $440/month. Nothing else in Australia sells ongoing, certified crisis training as a subscription.</a:t>
            </a:r>
          </a:p>
          <a:p>
            <a:pPr algn="l">
              <a:spcBef>
                <a:spcPts val="600"/>
              </a:spcBef>
              <a:spcAft>
                <a:spcPts val="200"/>
              </a:spcAft>
            </a:pPr>
            <a:r>
              <a:rPr sz="1500" b="1" i="0">
                <a:solidFill>
                  <a:srgbClr val="131A24"/>
                </a:solidFill>
                <a:latin typeface="Calibri"/>
              </a:rPr>
              <a:t>The plan: direct email to the decision makers.</a:t>
            </a:r>
          </a:p>
          <a:p>
            <a:pPr algn="l">
              <a:spcAft>
                <a:spcPts val="400"/>
              </a:spcAft>
            </a:pPr>
            <a:r>
              <a:rPr sz="1250" b="0" i="0">
                <a:solidFill>
                  <a:srgbClr val="5B6473"/>
                </a:solidFill>
                <a:latin typeface="Calibri"/>
              </a:rPr>
              <a:t>Cold outreach EDM sequences to school principals and council chief executives, with industry association CEOs as the next wave. Four emails per audience, each sequence leading with free value and closing on enrolment.</a:t>
            </a:r>
          </a:p>
          <a:p>
            <a:pPr algn="l">
              <a:spcBef>
                <a:spcPts val="600"/>
              </a:spcBef>
              <a:spcAft>
                <a:spcPts val="200"/>
              </a:spcAft>
            </a:pPr>
            <a:r>
              <a:rPr sz="1500" b="1" i="0">
                <a:solidFill>
                  <a:srgbClr val="131A24"/>
                </a:solidFill>
                <a:latin typeface="Calibri"/>
              </a:rPr>
              <a:t>What we are asking you to review in this deck.</a:t>
            </a:r>
          </a:p>
          <a:p>
            <a:pPr algn="l">
              <a:spcAft>
                <a:spcPts val="400"/>
              </a:spcAft>
            </a:pPr>
            <a:r>
              <a:rPr sz="1250" b="0" i="0">
                <a:solidFill>
                  <a:srgbClr val="5B6473"/>
                </a:solidFill>
                <a:latin typeface="Calibri"/>
              </a:rPr>
              <a:t>The market case, the three lead magnets we have built, the full copy of all eight emails, and the compliance approach. Approve, amend or redline anything: your name is on the emails, so nothing sends until you sign off.</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THE MARKET: SCHOOLS</a:t>
            </a:r>
          </a:p>
          <a:p>
            <a:pPr algn="l"/>
            <a:r>
              <a:rPr sz="2700" b="1" i="0">
                <a:solidFill>
                  <a:srgbClr val="131A24"/>
                </a:solidFill>
                <a:latin typeface="Calibri"/>
              </a:rPr>
              <a:t>Principals are living small crises weekly</a:t>
            </a:r>
          </a:p>
        </p:txBody>
      </p:sp>
      <p:sp>
        <p:nvSpPr>
          <p:cNvPr id="5" name="TextBox 4"/>
          <p:cNvSpPr txBox="1"/>
          <p:nvPr/>
        </p:nvSpPr>
        <p:spPr>
          <a:xfrm>
            <a:off x="822960" y="1783080"/>
            <a:ext cx="3383280" cy="1737360"/>
          </a:xfrm>
          <a:prstGeom prst="rect">
            <a:avLst/>
          </a:prstGeom>
          <a:noFill/>
        </p:spPr>
        <p:txBody>
          <a:bodyPr wrap="square" anchor="t">
            <a:spAutoFit/>
          </a:bodyPr>
          <a:lstStyle/>
          <a:p>
            <a:pPr algn="l">
              <a:spcAft>
                <a:spcPts val="300"/>
              </a:spcAft>
            </a:pPr>
            <a:r>
              <a:rPr sz="3400" b="1" i="0">
                <a:solidFill>
                  <a:srgbClr val="FF6B38"/>
                </a:solidFill>
                <a:latin typeface="Calibri"/>
              </a:rPr>
              <a:t>87.6%</a:t>
            </a:r>
          </a:p>
          <a:p>
            <a:pPr algn="l"/>
            <a:r>
              <a:rPr sz="1150" b="0" i="0">
                <a:solidFill>
                  <a:srgbClr val="5B6473"/>
                </a:solidFill>
                <a:latin typeface="Calibri"/>
              </a:rPr>
              <a:t>of principals report cyberbullying from parents and caregivers (ACU Principal Wellbeing Survey 2025)</a:t>
            </a:r>
          </a:p>
        </p:txBody>
      </p:sp>
      <p:sp>
        <p:nvSpPr>
          <p:cNvPr id="6" name="TextBox 5"/>
          <p:cNvSpPr txBox="1"/>
          <p:nvPr/>
        </p:nvSpPr>
        <p:spPr>
          <a:xfrm>
            <a:off x="4389120" y="1783080"/>
            <a:ext cx="3383280" cy="1737360"/>
          </a:xfrm>
          <a:prstGeom prst="rect">
            <a:avLst/>
          </a:prstGeom>
          <a:noFill/>
        </p:spPr>
        <p:txBody>
          <a:bodyPr wrap="square" anchor="t">
            <a:spAutoFit/>
          </a:bodyPr>
          <a:lstStyle/>
          <a:p>
            <a:pPr algn="l">
              <a:spcAft>
                <a:spcPts val="300"/>
              </a:spcAft>
            </a:pPr>
            <a:r>
              <a:rPr sz="3400" b="1" i="0">
                <a:solidFill>
                  <a:srgbClr val="FF6B38"/>
                </a:solidFill>
                <a:latin typeface="Calibri"/>
              </a:rPr>
              <a:t>54.4%</a:t>
            </a:r>
          </a:p>
          <a:p>
            <a:pPr algn="l"/>
            <a:r>
              <a:rPr sz="1150" b="0" i="0">
                <a:solidFill>
                  <a:srgbClr val="5B6473"/>
                </a:solidFill>
                <a:latin typeface="Calibri"/>
              </a:rPr>
              <a:t>are seriously considering quitting; most say they learned crisis handling on the job</a:t>
            </a:r>
          </a:p>
        </p:txBody>
      </p:sp>
      <p:sp>
        <p:nvSpPr>
          <p:cNvPr id="7" name="TextBox 6"/>
          <p:cNvSpPr txBox="1"/>
          <p:nvPr/>
        </p:nvSpPr>
        <p:spPr>
          <a:xfrm>
            <a:off x="7955280" y="1783080"/>
            <a:ext cx="3383280" cy="1737360"/>
          </a:xfrm>
          <a:prstGeom prst="rect">
            <a:avLst/>
          </a:prstGeom>
          <a:noFill/>
        </p:spPr>
        <p:txBody>
          <a:bodyPr wrap="square" anchor="t">
            <a:spAutoFit/>
          </a:bodyPr>
          <a:lstStyle/>
          <a:p>
            <a:pPr algn="l">
              <a:spcAft>
                <a:spcPts val="300"/>
              </a:spcAft>
            </a:pPr>
            <a:r>
              <a:rPr sz="3400" b="1" i="0">
                <a:solidFill>
                  <a:srgbClr val="FF6B38"/>
                </a:solidFill>
                <a:latin typeface="Calibri"/>
              </a:rPr>
              <a:t>11,297</a:t>
            </a:r>
          </a:p>
          <a:p>
            <a:pPr algn="l"/>
            <a:r>
              <a:rPr sz="1150" b="0" i="0">
                <a:solidFill>
                  <a:srgbClr val="5B6473"/>
                </a:solidFill>
                <a:latin typeface="Calibri"/>
              </a:rPr>
              <a:t>verified school leader email addresses in our database, 7,384 with the principal named</a:t>
            </a:r>
          </a:p>
        </p:txBody>
      </p:sp>
      <p:sp>
        <p:nvSpPr>
          <p:cNvPr id="8" name="TextBox 7"/>
          <p:cNvSpPr txBox="1"/>
          <p:nvPr/>
        </p:nvSpPr>
        <p:spPr>
          <a:xfrm>
            <a:off x="822960" y="3703320"/>
            <a:ext cx="10515600" cy="2468880"/>
          </a:xfrm>
          <a:prstGeom prst="rect">
            <a:avLst/>
          </a:prstGeom>
          <a:noFill/>
        </p:spPr>
        <p:txBody>
          <a:bodyPr wrap="square" anchor="t">
            <a:spAutoFit/>
          </a:bodyPr>
          <a:lstStyle/>
          <a:p>
            <a:pPr algn="l">
              <a:spcAft>
                <a:spcPts val="300"/>
              </a:spcAft>
            </a:pPr>
            <a:r>
              <a:rPr sz="1500" b="1" i="0">
                <a:solidFill>
                  <a:srgbClr val="131A24"/>
                </a:solidFill>
                <a:latin typeface="Calibri"/>
              </a:rPr>
              <a:t>Why now</a:t>
            </a:r>
          </a:p>
          <a:p>
            <a:pPr algn="l">
              <a:spcAft>
                <a:spcPts val="800"/>
              </a:spcAft>
            </a:pPr>
            <a:r>
              <a:rPr sz="1250" b="0" i="0">
                <a:solidFill>
                  <a:srgbClr val="5B6473"/>
                </a:solidFill>
                <a:latin typeface="Calibri"/>
              </a:rPr>
              <a:t>AI deepfake incidents are the fastest growing school crisis category: eSafety has published a dedicated schools response guide, and schools that pre-draft their response are being profiled as best practice. Recent high-profile school scandals have made every principal aware that the first 24 hours of communication decide the outcome.</a:t>
            </a:r>
          </a:p>
          <a:p>
            <a:pPr algn="l">
              <a:spcAft>
                <a:spcPts val="300"/>
              </a:spcAft>
            </a:pPr>
            <a:r>
              <a:rPr sz="1500" b="1" i="0">
                <a:solidFill>
                  <a:srgbClr val="131A24"/>
                </a:solidFill>
                <a:latin typeface="Calibri"/>
              </a:rPr>
              <a:t>Compliance pressure works for us</a:t>
            </a:r>
          </a:p>
          <a:p>
            <a:pPr algn="l"/>
            <a:r>
              <a:rPr sz="1250" b="0" i="0">
                <a:solidFill>
                  <a:srgbClr val="5B6473"/>
                </a:solidFill>
                <a:latin typeface="Calibri"/>
              </a:rPr>
              <a:t>Child Safe Standards, critical incident requirements for school registration, and board-level reputational risk duties give principals a governance reason to buy, not just a fear reason. Term 3 has just started: mid-year budget reviews are happening right now.</a:t>
            </a:r>
          </a:p>
        </p:txBody>
      </p:sp>
      <p:sp>
        <p:nvSpPr>
          <p:cNvPr id="9" name="TextBox 8"/>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THE MARKET: ASSOCIATIONS AND COUNCILS</a:t>
            </a:r>
          </a:p>
          <a:p>
            <a:pPr algn="l"/>
            <a:r>
              <a:rPr sz="2700" b="1" i="0">
                <a:solidFill>
                  <a:srgbClr val="131A24"/>
                </a:solidFill>
                <a:latin typeface="Calibri"/>
              </a:rPr>
              <a:t>The CEO is the spokesperson, ready or not</a:t>
            </a:r>
          </a:p>
        </p:txBody>
      </p:sp>
      <p:sp>
        <p:nvSpPr>
          <p:cNvPr id="5" name="TextBox 4"/>
          <p:cNvSpPr txBox="1"/>
          <p:nvPr/>
        </p:nvSpPr>
        <p:spPr>
          <a:xfrm>
            <a:off x="822960" y="1828800"/>
            <a:ext cx="10515600" cy="4480560"/>
          </a:xfrm>
          <a:prstGeom prst="rect">
            <a:avLst/>
          </a:prstGeom>
          <a:noFill/>
        </p:spPr>
        <p:txBody>
          <a:bodyPr wrap="square" anchor="t">
            <a:spAutoFit/>
          </a:bodyPr>
          <a:lstStyle/>
          <a:p>
            <a:pPr algn="l">
              <a:spcBef>
                <a:spcPts val="600"/>
              </a:spcBef>
              <a:spcAft>
                <a:spcPts val="200"/>
              </a:spcAft>
            </a:pPr>
            <a:r>
              <a:rPr sz="1500" b="1" i="0">
                <a:solidFill>
                  <a:srgbClr val="131A24"/>
                </a:solidFill>
                <a:latin typeface="Calibri"/>
              </a:rPr>
              <a:t>Industry associations carry every member's reputation.</a:t>
            </a:r>
          </a:p>
          <a:p>
            <a:pPr algn="l">
              <a:spcAft>
                <a:spcPts val="400"/>
              </a:spcAft>
            </a:pPr>
            <a:r>
              <a:rPr sz="1250" b="0" i="0">
                <a:solidFill>
                  <a:srgbClr val="5B6473"/>
                </a:solidFill>
                <a:latin typeface="Calibri"/>
              </a:rPr>
              <a:t>One member scandal becomes the sector's headline, and journalists call the association, not the member. Most associations run a comms team of one or none. There is also a bigger second play: associations endorse training to members as a benefit with a revenue share, a model already common in Australia (Speech Pathology Australia, APNA and others).</a:t>
            </a:r>
          </a:p>
          <a:p>
            <a:pPr algn="l">
              <a:spcBef>
                <a:spcPts val="600"/>
              </a:spcBef>
              <a:spcAft>
                <a:spcPts val="200"/>
              </a:spcAft>
            </a:pPr>
            <a:r>
              <a:rPr sz="1500" b="1" i="0">
                <a:solidFill>
                  <a:srgbClr val="131A24"/>
                </a:solidFill>
                <a:latin typeface="Calibri"/>
              </a:rPr>
              <a:t>Councils are under documented, rising pressure.</a:t>
            </a:r>
          </a:p>
          <a:p>
            <a:pPr algn="l">
              <a:spcAft>
                <a:spcPts val="400"/>
              </a:spcAft>
            </a:pPr>
            <a:r>
              <a:rPr sz="1250" b="0" i="0">
                <a:solidFill>
                  <a:srgbClr val="5B6473"/>
                </a:solidFill>
                <a:latin typeface="Calibri"/>
              </a:rPr>
              <a:t>A 2026 MAV and ANU report found growing disinformation and harassment of councillors through social media and AI deepfakes. Smaller councils have zero or one comms staff, so the CEO or GM personally owns crisis response. We hold 523 verified council CEO and GM email addresses.</a:t>
            </a:r>
          </a:p>
          <a:p>
            <a:pPr algn="l">
              <a:spcBef>
                <a:spcPts val="600"/>
              </a:spcBef>
              <a:spcAft>
                <a:spcPts val="200"/>
              </a:spcAft>
            </a:pPr>
            <a:r>
              <a:rPr sz="1500" b="1" i="0">
                <a:solidFill>
                  <a:srgbClr val="131A24"/>
                </a:solidFill>
                <a:latin typeface="Calibri"/>
              </a:rPr>
              <a:t>The price fits inside existing delegations.</a:t>
            </a:r>
          </a:p>
          <a:p>
            <a:pPr algn="l">
              <a:spcAft>
                <a:spcPts val="400"/>
              </a:spcAft>
            </a:pPr>
            <a:r>
              <a:rPr sz="1250" b="0" i="0">
                <a:solidFill>
                  <a:srgbClr val="5B6473"/>
                </a:solidFill>
                <a:latin typeface="Calibri"/>
              </a:rPr>
              <a:t>$340 per month sits under standard council and school purchase thresholds. No tender, no quote round, no board paper: a monthly PD line the decision maker can approve alone.</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THE COMPETITIVE GAP</a:t>
            </a:r>
          </a:p>
          <a:p>
            <a:pPr algn="l"/>
            <a:r>
              <a:rPr sz="2700" b="1" i="0">
                <a:solidFill>
                  <a:srgbClr val="131A24"/>
                </a:solidFill>
                <a:latin typeface="Calibri"/>
              </a:rPr>
              <a:t>Everyone sells a workshop day. Nobody sells a year.</a:t>
            </a:r>
          </a:p>
        </p:txBody>
      </p:sp>
      <p:sp>
        <p:nvSpPr>
          <p:cNvPr id="5" name="Rectangle 4"/>
          <p:cNvSpPr/>
          <p:nvPr/>
        </p:nvSpPr>
        <p:spPr>
          <a:xfrm>
            <a:off x="822960" y="1920240"/>
            <a:ext cx="10515600" cy="713232"/>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20824"/>
            <a:ext cx="6949440" cy="548640"/>
          </a:xfrm>
          <a:prstGeom prst="rect">
            <a:avLst/>
          </a:prstGeom>
          <a:noFill/>
        </p:spPr>
        <p:txBody>
          <a:bodyPr wrap="square" anchor="t">
            <a:spAutoFit/>
          </a:bodyPr>
          <a:lstStyle/>
          <a:p>
            <a:pPr algn="l"/>
            <a:r>
              <a:rPr sz="1350" b="0" i="0">
                <a:solidFill>
                  <a:srgbClr val="131A24"/>
                </a:solidFill>
                <a:latin typeface="Calibri"/>
              </a:rPr>
              <a:t>Typical crisis training workshop (facilitator day)</a:t>
            </a:r>
          </a:p>
        </p:txBody>
      </p:sp>
      <p:sp>
        <p:nvSpPr>
          <p:cNvPr id="7" name="TextBox 6"/>
          <p:cNvSpPr txBox="1"/>
          <p:nvPr/>
        </p:nvSpPr>
        <p:spPr>
          <a:xfrm>
            <a:off x="8046720" y="2020824"/>
            <a:ext cx="3108960" cy="548640"/>
          </a:xfrm>
          <a:prstGeom prst="rect">
            <a:avLst/>
          </a:prstGeom>
          <a:noFill/>
        </p:spPr>
        <p:txBody>
          <a:bodyPr wrap="square" anchor="t">
            <a:spAutoFit/>
          </a:bodyPr>
          <a:lstStyle/>
          <a:p>
            <a:pPr algn="l"/>
            <a:r>
              <a:rPr sz="1350" b="1" i="0">
                <a:solidFill>
                  <a:srgbClr val="5B6473"/>
                </a:solidFill>
                <a:latin typeface="Calibri"/>
              </a:rPr>
              <a:t>$7,000 to $15,000, one-off</a:t>
            </a:r>
          </a:p>
        </p:txBody>
      </p:sp>
      <p:sp>
        <p:nvSpPr>
          <p:cNvPr id="8" name="Rectangle 7"/>
          <p:cNvSpPr/>
          <p:nvPr/>
        </p:nvSpPr>
        <p:spPr>
          <a:xfrm>
            <a:off x="822960" y="2761488"/>
            <a:ext cx="10515600" cy="713232"/>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62072"/>
            <a:ext cx="6949440" cy="548640"/>
          </a:xfrm>
          <a:prstGeom prst="rect">
            <a:avLst/>
          </a:prstGeom>
          <a:noFill/>
        </p:spPr>
        <p:txBody>
          <a:bodyPr wrap="square" anchor="t">
            <a:spAutoFit/>
          </a:bodyPr>
          <a:lstStyle/>
          <a:p>
            <a:pPr algn="l"/>
            <a:r>
              <a:rPr sz="1350" b="0" i="0">
                <a:solidFill>
                  <a:srgbClr val="131A24"/>
                </a:solidFill>
                <a:latin typeface="Calibri"/>
              </a:rPr>
              <a:t>Public Sector Network 2-day virtual workshop</a:t>
            </a:r>
          </a:p>
        </p:txBody>
      </p:sp>
      <p:sp>
        <p:nvSpPr>
          <p:cNvPr id="10" name="TextBox 9"/>
          <p:cNvSpPr txBox="1"/>
          <p:nvPr/>
        </p:nvSpPr>
        <p:spPr>
          <a:xfrm>
            <a:off x="8046720" y="2862072"/>
            <a:ext cx="3108960" cy="548640"/>
          </a:xfrm>
          <a:prstGeom prst="rect">
            <a:avLst/>
          </a:prstGeom>
          <a:noFill/>
        </p:spPr>
        <p:txBody>
          <a:bodyPr wrap="square" anchor="t">
            <a:spAutoFit/>
          </a:bodyPr>
          <a:lstStyle/>
          <a:p>
            <a:pPr algn="l"/>
            <a:r>
              <a:rPr sz="1350" b="1" i="0">
                <a:solidFill>
                  <a:srgbClr val="5B6473"/>
                </a:solidFill>
                <a:latin typeface="Calibri"/>
              </a:rPr>
              <a:t>$1,195 per person</a:t>
            </a:r>
          </a:p>
        </p:txBody>
      </p:sp>
      <p:sp>
        <p:nvSpPr>
          <p:cNvPr id="11" name="Rectangle 10"/>
          <p:cNvSpPr/>
          <p:nvPr/>
        </p:nvSpPr>
        <p:spPr>
          <a:xfrm>
            <a:off x="822960" y="3602736"/>
            <a:ext cx="10515600" cy="713232"/>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03320"/>
            <a:ext cx="6949440" cy="548640"/>
          </a:xfrm>
          <a:prstGeom prst="rect">
            <a:avLst/>
          </a:prstGeom>
          <a:noFill/>
        </p:spPr>
        <p:txBody>
          <a:bodyPr wrap="square" anchor="t">
            <a:spAutoFit/>
          </a:bodyPr>
          <a:lstStyle/>
          <a:p>
            <a:pPr algn="l"/>
            <a:r>
              <a:rPr sz="1350" b="0" i="0">
                <a:solidFill>
                  <a:srgbClr val="131A24"/>
                </a:solidFill>
                <a:latin typeface="Calibri"/>
              </a:rPr>
              <a:t>External crisis consultants during a live crisis</a:t>
            </a:r>
          </a:p>
        </p:txBody>
      </p:sp>
      <p:sp>
        <p:nvSpPr>
          <p:cNvPr id="13" name="TextBox 12"/>
          <p:cNvSpPr txBox="1"/>
          <p:nvPr/>
        </p:nvSpPr>
        <p:spPr>
          <a:xfrm>
            <a:off x="8046720" y="3703320"/>
            <a:ext cx="3108960" cy="548640"/>
          </a:xfrm>
          <a:prstGeom prst="rect">
            <a:avLst/>
          </a:prstGeom>
          <a:noFill/>
        </p:spPr>
        <p:txBody>
          <a:bodyPr wrap="square" anchor="t">
            <a:spAutoFit/>
          </a:bodyPr>
          <a:lstStyle/>
          <a:p>
            <a:pPr algn="l"/>
            <a:r>
              <a:rPr sz="1350" b="1" i="0">
                <a:solidFill>
                  <a:srgbClr val="5B6473"/>
                </a:solidFill>
                <a:latin typeface="Calibri"/>
              </a:rPr>
              <a:t>Thousands per day, after the damage</a:t>
            </a:r>
          </a:p>
        </p:txBody>
      </p:sp>
      <p:sp>
        <p:nvSpPr>
          <p:cNvPr id="14" name="Rectangle 13"/>
          <p:cNvSpPr/>
          <p:nvPr/>
        </p:nvSpPr>
        <p:spPr>
          <a:xfrm>
            <a:off x="822960" y="4443984"/>
            <a:ext cx="10515600" cy="713232"/>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544568"/>
            <a:ext cx="6949440" cy="548640"/>
          </a:xfrm>
          <a:prstGeom prst="rect">
            <a:avLst/>
          </a:prstGeom>
          <a:noFill/>
        </p:spPr>
        <p:txBody>
          <a:bodyPr wrap="square" anchor="t">
            <a:spAutoFit/>
          </a:bodyPr>
          <a:lstStyle/>
          <a:p>
            <a:pPr algn="l"/>
            <a:r>
              <a:rPr sz="1350" b="1" i="0">
                <a:solidFill>
                  <a:srgbClr val="FFFFFF"/>
                </a:solidFill>
                <a:latin typeface="Calibri"/>
              </a:rPr>
              <a:t>Crisis Masterclass, full 12 months, certified</a:t>
            </a:r>
          </a:p>
        </p:txBody>
      </p:sp>
      <p:sp>
        <p:nvSpPr>
          <p:cNvPr id="16" name="TextBox 15"/>
          <p:cNvSpPr txBox="1"/>
          <p:nvPr/>
        </p:nvSpPr>
        <p:spPr>
          <a:xfrm>
            <a:off x="8046720" y="4544568"/>
            <a:ext cx="3108960" cy="548640"/>
          </a:xfrm>
          <a:prstGeom prst="rect">
            <a:avLst/>
          </a:prstGeom>
          <a:noFill/>
        </p:spPr>
        <p:txBody>
          <a:bodyPr wrap="square" anchor="t">
            <a:spAutoFit/>
          </a:bodyPr>
          <a:lstStyle/>
          <a:p>
            <a:pPr algn="l"/>
            <a:r>
              <a:rPr sz="1350" b="1" i="0">
                <a:solidFill>
                  <a:srgbClr val="FF6B38"/>
                </a:solidFill>
                <a:latin typeface="Calibri"/>
              </a:rPr>
              <a:t>$340/month (about $4,080/year ex GST)</a:t>
            </a:r>
          </a:p>
        </p:txBody>
      </p:sp>
      <p:sp>
        <p:nvSpPr>
          <p:cNvPr id="17" name="TextBox 16"/>
          <p:cNvSpPr txBox="1"/>
          <p:nvPr/>
        </p:nvSpPr>
        <p:spPr>
          <a:xfrm>
            <a:off x="822960" y="5422392"/>
            <a:ext cx="10515600" cy="914400"/>
          </a:xfrm>
          <a:prstGeom prst="rect">
            <a:avLst/>
          </a:prstGeom>
          <a:noFill/>
        </p:spPr>
        <p:txBody>
          <a:bodyPr wrap="square" anchor="t">
            <a:spAutoFit/>
          </a:bodyPr>
          <a:lstStyle/>
          <a:p>
            <a:pPr algn="l"/>
            <a:r>
              <a:rPr sz="1250" b="0" i="0">
                <a:solidFill>
                  <a:srgbClr val="5B6473"/>
                </a:solidFill>
                <a:latin typeface="Calibri"/>
              </a:rPr>
              <a:t>The anchor that runs through every email: a full year of certified, expert-led crisis training costs less than a single workshop day elsewhere. Melissa Agnes and the Crisis Ready Institute pedigree is exclusive to My PR Partner in Australasia, and no competitor offers a certificate.</a:t>
            </a:r>
          </a:p>
        </p:txBody>
      </p:sp>
      <p:sp>
        <p:nvSpPr>
          <p:cNvPr id="18" name="TextBox 1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THE DATABASE</a:t>
            </a:r>
          </a:p>
          <a:p>
            <a:pPr algn="l"/>
            <a:r>
              <a:rPr sz="2700" b="1" i="0">
                <a:solidFill>
                  <a:srgbClr val="131A24"/>
                </a:solidFill>
                <a:latin typeface="Calibri"/>
              </a:rPr>
              <a:t>Who we can reach, and in what order</a:t>
            </a:r>
          </a:p>
        </p:txBody>
      </p:sp>
      <p:sp>
        <p:nvSpPr>
          <p:cNvPr id="5" name="TextBox 4"/>
          <p:cNvSpPr txBox="1"/>
          <p:nvPr/>
        </p:nvSpPr>
        <p:spPr>
          <a:xfrm>
            <a:off x="822960" y="1783080"/>
            <a:ext cx="2377440" cy="365760"/>
          </a:xfrm>
          <a:prstGeom prst="rect">
            <a:avLst/>
          </a:prstGeom>
          <a:noFill/>
        </p:spPr>
        <p:txBody>
          <a:bodyPr wrap="square" anchor="t">
            <a:spAutoFit/>
          </a:bodyPr>
          <a:lstStyle/>
          <a:p>
            <a:pPr algn="l"/>
            <a:r>
              <a:rPr sz="1100" b="1" i="0">
                <a:solidFill>
                  <a:srgbClr val="FF6B38"/>
                </a:solidFill>
                <a:latin typeface="Calibri"/>
              </a:rPr>
              <a:t>SEGMENT</a:t>
            </a:r>
          </a:p>
        </p:txBody>
      </p:sp>
      <p:sp>
        <p:nvSpPr>
          <p:cNvPr id="6" name="TextBox 5"/>
          <p:cNvSpPr txBox="1"/>
          <p:nvPr/>
        </p:nvSpPr>
        <p:spPr>
          <a:xfrm>
            <a:off x="3200400" y="1783080"/>
            <a:ext cx="2011680" cy="365760"/>
          </a:xfrm>
          <a:prstGeom prst="rect">
            <a:avLst/>
          </a:prstGeom>
          <a:noFill/>
        </p:spPr>
        <p:txBody>
          <a:bodyPr wrap="square" anchor="t">
            <a:spAutoFit/>
          </a:bodyPr>
          <a:lstStyle/>
          <a:p>
            <a:pPr algn="l"/>
            <a:r>
              <a:rPr sz="1100" b="1" i="0">
                <a:solidFill>
                  <a:srgbClr val="FF6B38"/>
                </a:solidFill>
                <a:latin typeface="Calibri"/>
              </a:rPr>
              <a:t>VALID EMAILS</a:t>
            </a:r>
          </a:p>
        </p:txBody>
      </p:sp>
      <p:sp>
        <p:nvSpPr>
          <p:cNvPr id="7" name="TextBox 6"/>
          <p:cNvSpPr txBox="1"/>
          <p:nvPr/>
        </p:nvSpPr>
        <p:spPr>
          <a:xfrm>
            <a:off x="5212080" y="1783080"/>
            <a:ext cx="4023360" cy="365760"/>
          </a:xfrm>
          <a:prstGeom prst="rect">
            <a:avLst/>
          </a:prstGeom>
          <a:noFill/>
        </p:spPr>
        <p:txBody>
          <a:bodyPr wrap="square" anchor="t">
            <a:spAutoFit/>
          </a:bodyPr>
          <a:lstStyle/>
          <a:p>
            <a:pPr algn="l"/>
            <a:r>
              <a:rPr sz="1100" b="1" i="0">
                <a:solidFill>
                  <a:srgbClr val="FF6B38"/>
                </a:solidFill>
                <a:latin typeface="Calibri"/>
              </a:rPr>
              <a:t>DECISION MAKERS</a:t>
            </a:r>
          </a:p>
        </p:txBody>
      </p:sp>
      <p:sp>
        <p:nvSpPr>
          <p:cNvPr id="8" name="TextBox 7"/>
          <p:cNvSpPr txBox="1"/>
          <p:nvPr/>
        </p:nvSpPr>
        <p:spPr>
          <a:xfrm>
            <a:off x="9235440" y="1783080"/>
            <a:ext cx="2103120" cy="365760"/>
          </a:xfrm>
          <a:prstGeom prst="rect">
            <a:avLst/>
          </a:prstGeom>
          <a:noFill/>
        </p:spPr>
        <p:txBody>
          <a:bodyPr wrap="square" anchor="t">
            <a:spAutoFit/>
          </a:bodyPr>
          <a:lstStyle/>
          <a:p>
            <a:pPr algn="l"/>
            <a:r>
              <a:rPr sz="1100" b="1" i="0">
                <a:solidFill>
                  <a:srgbClr val="FF6B38"/>
                </a:solidFill>
                <a:latin typeface="Calibri"/>
              </a:rPr>
              <a:t>PRIORITY</a:t>
            </a:r>
          </a:p>
        </p:txBody>
      </p:sp>
      <p:sp>
        <p:nvSpPr>
          <p:cNvPr id="9" name="Rectangle 8"/>
          <p:cNvSpPr/>
          <p:nvPr/>
        </p:nvSpPr>
        <p:spPr>
          <a:xfrm>
            <a:off x="822960" y="2194560"/>
            <a:ext cx="10515600" cy="603504"/>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286000"/>
            <a:ext cx="2194560" cy="457200"/>
          </a:xfrm>
          <a:prstGeom prst="rect">
            <a:avLst/>
          </a:prstGeom>
          <a:noFill/>
        </p:spPr>
        <p:txBody>
          <a:bodyPr wrap="square" anchor="t">
            <a:spAutoFit/>
          </a:bodyPr>
          <a:lstStyle/>
          <a:p>
            <a:pPr algn="l"/>
            <a:r>
              <a:rPr sz="1200" b="1" i="0">
                <a:solidFill>
                  <a:srgbClr val="131A24"/>
                </a:solidFill>
                <a:latin typeface="Calibri"/>
              </a:rPr>
              <a:t>Local councils</a:t>
            </a:r>
          </a:p>
        </p:txBody>
      </p:sp>
      <p:sp>
        <p:nvSpPr>
          <p:cNvPr id="11" name="TextBox 10"/>
          <p:cNvSpPr txBox="1"/>
          <p:nvPr/>
        </p:nvSpPr>
        <p:spPr>
          <a:xfrm>
            <a:off x="3310128" y="2286000"/>
            <a:ext cx="1828800" cy="457200"/>
          </a:xfrm>
          <a:prstGeom prst="rect">
            <a:avLst/>
          </a:prstGeom>
          <a:noFill/>
        </p:spPr>
        <p:txBody>
          <a:bodyPr wrap="square" anchor="t">
            <a:spAutoFit/>
          </a:bodyPr>
          <a:lstStyle/>
          <a:p>
            <a:pPr algn="l"/>
            <a:r>
              <a:rPr sz="1200" b="0" i="0">
                <a:solidFill>
                  <a:srgbClr val="5B6473"/>
                </a:solidFill>
                <a:latin typeface="Calibri"/>
              </a:rPr>
              <a:t>523</a:t>
            </a:r>
          </a:p>
        </p:txBody>
      </p:sp>
      <p:sp>
        <p:nvSpPr>
          <p:cNvPr id="12" name="TextBox 11"/>
          <p:cNvSpPr txBox="1"/>
          <p:nvPr/>
        </p:nvSpPr>
        <p:spPr>
          <a:xfrm>
            <a:off x="5321808" y="2286000"/>
            <a:ext cx="3840480" cy="457200"/>
          </a:xfrm>
          <a:prstGeom prst="rect">
            <a:avLst/>
          </a:prstGeom>
          <a:noFill/>
        </p:spPr>
        <p:txBody>
          <a:bodyPr wrap="square" anchor="t">
            <a:spAutoFit/>
          </a:bodyPr>
          <a:lstStyle/>
          <a:p>
            <a:pPr algn="l"/>
            <a:r>
              <a:rPr sz="1200" b="0" i="0">
                <a:solidFill>
                  <a:srgbClr val="5B6473"/>
                </a:solidFill>
                <a:latin typeface="Calibri"/>
              </a:rPr>
              <a:t>CEOs (370), General Managers (102)</a:t>
            </a:r>
          </a:p>
        </p:txBody>
      </p:sp>
      <p:sp>
        <p:nvSpPr>
          <p:cNvPr id="13" name="TextBox 12"/>
          <p:cNvSpPr txBox="1"/>
          <p:nvPr/>
        </p:nvSpPr>
        <p:spPr>
          <a:xfrm>
            <a:off x="9345168" y="2286000"/>
            <a:ext cx="1920240" cy="457200"/>
          </a:xfrm>
          <a:prstGeom prst="rect">
            <a:avLst/>
          </a:prstGeom>
          <a:noFill/>
        </p:spPr>
        <p:txBody>
          <a:bodyPr wrap="square" anchor="t">
            <a:spAutoFit/>
          </a:bodyPr>
          <a:lstStyle/>
          <a:p>
            <a:pPr algn="l"/>
            <a:r>
              <a:rPr sz="1200" b="0" i="0">
                <a:solidFill>
                  <a:srgbClr val="5B6473"/>
                </a:solidFill>
                <a:latin typeface="Calibri"/>
              </a:rPr>
              <a:t>Email 1: Wed 23 July</a:t>
            </a:r>
          </a:p>
        </p:txBody>
      </p:sp>
      <p:sp>
        <p:nvSpPr>
          <p:cNvPr id="14" name="Rectangle 13"/>
          <p:cNvSpPr/>
          <p:nvPr/>
        </p:nvSpPr>
        <p:spPr>
          <a:xfrm>
            <a:off x="822960" y="2907792"/>
            <a:ext cx="10515600" cy="603504"/>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999232"/>
            <a:ext cx="2194560" cy="457200"/>
          </a:xfrm>
          <a:prstGeom prst="rect">
            <a:avLst/>
          </a:prstGeom>
          <a:noFill/>
        </p:spPr>
        <p:txBody>
          <a:bodyPr wrap="square" anchor="t">
            <a:spAutoFit/>
          </a:bodyPr>
          <a:lstStyle/>
          <a:p>
            <a:pPr algn="l"/>
            <a:r>
              <a:rPr sz="1200" b="1" i="0">
                <a:solidFill>
                  <a:srgbClr val="131A24"/>
                </a:solidFill>
                <a:latin typeface="Calibri"/>
              </a:rPr>
              <a:t>Schools (full list)</a:t>
            </a:r>
          </a:p>
        </p:txBody>
      </p:sp>
      <p:sp>
        <p:nvSpPr>
          <p:cNvPr id="16" name="TextBox 15"/>
          <p:cNvSpPr txBox="1"/>
          <p:nvPr/>
        </p:nvSpPr>
        <p:spPr>
          <a:xfrm>
            <a:off x="3310128" y="2999232"/>
            <a:ext cx="1828800" cy="457200"/>
          </a:xfrm>
          <a:prstGeom prst="rect">
            <a:avLst/>
          </a:prstGeom>
          <a:noFill/>
        </p:spPr>
        <p:txBody>
          <a:bodyPr wrap="square" anchor="t">
            <a:spAutoFit/>
          </a:bodyPr>
          <a:lstStyle/>
          <a:p>
            <a:pPr algn="l"/>
            <a:r>
              <a:rPr sz="1200" b="0" i="0">
                <a:solidFill>
                  <a:srgbClr val="5B6473"/>
                </a:solidFill>
                <a:latin typeface="Calibri"/>
              </a:rPr>
              <a:t>11,297</a:t>
            </a:r>
          </a:p>
        </p:txBody>
      </p:sp>
      <p:sp>
        <p:nvSpPr>
          <p:cNvPr id="17" name="TextBox 16"/>
          <p:cNvSpPr txBox="1"/>
          <p:nvPr/>
        </p:nvSpPr>
        <p:spPr>
          <a:xfrm>
            <a:off x="5321808" y="2999232"/>
            <a:ext cx="3840480" cy="457200"/>
          </a:xfrm>
          <a:prstGeom prst="rect">
            <a:avLst/>
          </a:prstGeom>
          <a:noFill/>
        </p:spPr>
        <p:txBody>
          <a:bodyPr wrap="square" anchor="t">
            <a:spAutoFit/>
          </a:bodyPr>
          <a:lstStyle/>
          <a:p>
            <a:pPr algn="l"/>
            <a:r>
              <a:rPr sz="1200" b="0" i="0">
                <a:solidFill>
                  <a:srgbClr val="5B6473"/>
                </a:solidFill>
                <a:latin typeface="Calibri"/>
              </a:rPr>
              <a:t>Principals, heads, school CEOs</a:t>
            </a:r>
          </a:p>
        </p:txBody>
      </p:sp>
      <p:sp>
        <p:nvSpPr>
          <p:cNvPr id="18" name="TextBox 17"/>
          <p:cNvSpPr txBox="1"/>
          <p:nvPr/>
        </p:nvSpPr>
        <p:spPr>
          <a:xfrm>
            <a:off x="9345168" y="2999232"/>
            <a:ext cx="1920240" cy="457200"/>
          </a:xfrm>
          <a:prstGeom prst="rect">
            <a:avLst/>
          </a:prstGeom>
          <a:noFill/>
        </p:spPr>
        <p:txBody>
          <a:bodyPr wrap="square" anchor="t">
            <a:spAutoFit/>
          </a:bodyPr>
          <a:lstStyle/>
          <a:p>
            <a:pPr algn="l"/>
            <a:r>
              <a:rPr sz="1200" b="0" i="0">
                <a:solidFill>
                  <a:srgbClr val="5B6473"/>
                </a:solidFill>
                <a:latin typeface="Calibri"/>
              </a:rPr>
              <a:t>Email 1: Wed-Fri, staged</a:t>
            </a:r>
          </a:p>
        </p:txBody>
      </p:sp>
      <p:sp>
        <p:nvSpPr>
          <p:cNvPr id="19" name="Rectangle 18"/>
          <p:cNvSpPr/>
          <p:nvPr/>
        </p:nvSpPr>
        <p:spPr>
          <a:xfrm>
            <a:off x="822960" y="3621024"/>
            <a:ext cx="10515600" cy="603504"/>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712464"/>
            <a:ext cx="2194560" cy="457200"/>
          </a:xfrm>
          <a:prstGeom prst="rect">
            <a:avLst/>
          </a:prstGeom>
          <a:noFill/>
        </p:spPr>
        <p:txBody>
          <a:bodyPr wrap="square" anchor="t">
            <a:spAutoFit/>
          </a:bodyPr>
          <a:lstStyle/>
          <a:p>
            <a:pPr algn="l"/>
            <a:r>
              <a:rPr sz="1200" b="1" i="0">
                <a:solidFill>
                  <a:srgbClr val="131A24"/>
                </a:solidFill>
                <a:latin typeface="Calibri"/>
              </a:rPr>
              <a:t>Business pilot</a:t>
            </a:r>
          </a:p>
        </p:txBody>
      </p:sp>
      <p:sp>
        <p:nvSpPr>
          <p:cNvPr id="21" name="TextBox 20"/>
          <p:cNvSpPr txBox="1"/>
          <p:nvPr/>
        </p:nvSpPr>
        <p:spPr>
          <a:xfrm>
            <a:off x="3310128" y="3712464"/>
            <a:ext cx="1828800" cy="457200"/>
          </a:xfrm>
          <a:prstGeom prst="rect">
            <a:avLst/>
          </a:prstGeom>
          <a:noFill/>
        </p:spPr>
        <p:txBody>
          <a:bodyPr wrap="square" anchor="t">
            <a:spAutoFit/>
          </a:bodyPr>
          <a:lstStyle/>
          <a:p>
            <a:pPr algn="l"/>
            <a:r>
              <a:rPr sz="1200" b="0" i="0">
                <a:solidFill>
                  <a:srgbClr val="5B6473"/>
                </a:solidFill>
                <a:latin typeface="Calibri"/>
              </a:rPr>
              <a:t>~5,000 of 1.25M</a:t>
            </a:r>
          </a:p>
        </p:txBody>
      </p:sp>
      <p:sp>
        <p:nvSpPr>
          <p:cNvPr id="22" name="TextBox 21"/>
          <p:cNvSpPr txBox="1"/>
          <p:nvPr/>
        </p:nvSpPr>
        <p:spPr>
          <a:xfrm>
            <a:off x="5321808" y="3712464"/>
            <a:ext cx="3840480" cy="457200"/>
          </a:xfrm>
          <a:prstGeom prst="rect">
            <a:avLst/>
          </a:prstGeom>
          <a:noFill/>
        </p:spPr>
        <p:txBody>
          <a:bodyPr wrap="square" anchor="t">
            <a:spAutoFit/>
          </a:bodyPr>
          <a:lstStyle/>
          <a:p>
            <a:pPr algn="l"/>
            <a:r>
              <a:rPr sz="1200" b="0" i="0">
                <a:solidFill>
                  <a:srgbClr val="5B6473"/>
                </a:solidFill>
                <a:latin typeface="Calibri"/>
              </a:rPr>
              <a:t>Named contacts, reputation-exposed industries</a:t>
            </a:r>
          </a:p>
        </p:txBody>
      </p:sp>
      <p:sp>
        <p:nvSpPr>
          <p:cNvPr id="23" name="TextBox 22"/>
          <p:cNvSpPr txBox="1"/>
          <p:nvPr/>
        </p:nvSpPr>
        <p:spPr>
          <a:xfrm>
            <a:off x="9345168" y="3712464"/>
            <a:ext cx="1920240" cy="457200"/>
          </a:xfrm>
          <a:prstGeom prst="rect">
            <a:avLst/>
          </a:prstGeom>
          <a:noFill/>
        </p:spPr>
        <p:txBody>
          <a:bodyPr wrap="square" anchor="t">
            <a:spAutoFit/>
          </a:bodyPr>
          <a:lstStyle/>
          <a:p>
            <a:pPr algn="l"/>
            <a:r>
              <a:rPr sz="1200" b="0" i="0">
                <a:solidFill>
                  <a:srgbClr val="5B6473"/>
                </a:solidFill>
                <a:latin typeface="Calibri"/>
              </a:rPr>
              <a:t>Email 1: this week</a:t>
            </a:r>
          </a:p>
        </p:txBody>
      </p:sp>
      <p:sp>
        <p:nvSpPr>
          <p:cNvPr id="24" name="Rectangle 23"/>
          <p:cNvSpPr/>
          <p:nvPr/>
        </p:nvSpPr>
        <p:spPr>
          <a:xfrm>
            <a:off x="822960" y="4334256"/>
            <a:ext cx="10515600" cy="603504"/>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425696"/>
            <a:ext cx="2194560" cy="457200"/>
          </a:xfrm>
          <a:prstGeom prst="rect">
            <a:avLst/>
          </a:prstGeom>
          <a:noFill/>
        </p:spPr>
        <p:txBody>
          <a:bodyPr wrap="square" anchor="t">
            <a:spAutoFit/>
          </a:bodyPr>
          <a:lstStyle/>
          <a:p>
            <a:pPr algn="l"/>
            <a:r>
              <a:rPr sz="1200" b="1" i="0">
                <a:solidFill>
                  <a:srgbClr val="131A24"/>
                </a:solidFill>
                <a:latin typeface="Calibri"/>
              </a:rPr>
              <a:t>Business master list</a:t>
            </a:r>
          </a:p>
        </p:txBody>
      </p:sp>
      <p:sp>
        <p:nvSpPr>
          <p:cNvPr id="26" name="TextBox 25"/>
          <p:cNvSpPr txBox="1"/>
          <p:nvPr/>
        </p:nvSpPr>
        <p:spPr>
          <a:xfrm>
            <a:off x="3310128" y="4425696"/>
            <a:ext cx="1828800" cy="457200"/>
          </a:xfrm>
          <a:prstGeom prst="rect">
            <a:avLst/>
          </a:prstGeom>
          <a:noFill/>
        </p:spPr>
        <p:txBody>
          <a:bodyPr wrap="square" anchor="t">
            <a:spAutoFit/>
          </a:bodyPr>
          <a:lstStyle/>
          <a:p>
            <a:pPr algn="l"/>
            <a:r>
              <a:rPr sz="1200" b="0" i="0">
                <a:solidFill>
                  <a:srgbClr val="5B6473"/>
                </a:solidFill>
                <a:latin typeface="Calibri"/>
              </a:rPr>
              <a:t>1.25 million</a:t>
            </a:r>
          </a:p>
        </p:txBody>
      </p:sp>
      <p:sp>
        <p:nvSpPr>
          <p:cNvPr id="27" name="TextBox 26"/>
          <p:cNvSpPr txBox="1"/>
          <p:nvPr/>
        </p:nvSpPr>
        <p:spPr>
          <a:xfrm>
            <a:off x="5321808" y="4425696"/>
            <a:ext cx="3840480" cy="457200"/>
          </a:xfrm>
          <a:prstGeom prst="rect">
            <a:avLst/>
          </a:prstGeom>
          <a:noFill/>
        </p:spPr>
        <p:txBody>
          <a:bodyPr wrap="square" anchor="t">
            <a:spAutoFit/>
          </a:bodyPr>
          <a:lstStyle/>
          <a:p>
            <a:pPr algn="l"/>
            <a:r>
              <a:rPr sz="1200" b="0" i="0">
                <a:solidFill>
                  <a:srgbClr val="5B6473"/>
                </a:solidFill>
                <a:latin typeface="Calibri"/>
              </a:rPr>
              <a:t>441 industries</a:t>
            </a:r>
          </a:p>
        </p:txBody>
      </p:sp>
      <p:sp>
        <p:nvSpPr>
          <p:cNvPr id="28" name="TextBox 27"/>
          <p:cNvSpPr txBox="1"/>
          <p:nvPr/>
        </p:nvSpPr>
        <p:spPr>
          <a:xfrm>
            <a:off x="9345168" y="4425696"/>
            <a:ext cx="1920240" cy="457200"/>
          </a:xfrm>
          <a:prstGeom prst="rect">
            <a:avLst/>
          </a:prstGeom>
          <a:noFill/>
        </p:spPr>
        <p:txBody>
          <a:bodyPr wrap="square" anchor="t">
            <a:spAutoFit/>
          </a:bodyPr>
          <a:lstStyle/>
          <a:p>
            <a:pPr algn="l"/>
            <a:r>
              <a:rPr sz="1200" b="0" i="0">
                <a:solidFill>
                  <a:srgbClr val="5B6473"/>
                </a:solidFill>
                <a:latin typeface="Calibri"/>
              </a:rPr>
              <a:t>Pilot first, no bulk blast</a:t>
            </a:r>
          </a:p>
        </p:txBody>
      </p:sp>
      <p:sp>
        <p:nvSpPr>
          <p:cNvPr id="29" name="Rectangle 28"/>
          <p:cNvSpPr/>
          <p:nvPr/>
        </p:nvSpPr>
        <p:spPr>
          <a:xfrm>
            <a:off x="822960" y="5047488"/>
            <a:ext cx="10515600" cy="603504"/>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5138928"/>
            <a:ext cx="2194560" cy="457200"/>
          </a:xfrm>
          <a:prstGeom prst="rect">
            <a:avLst/>
          </a:prstGeom>
          <a:noFill/>
        </p:spPr>
        <p:txBody>
          <a:bodyPr wrap="square" anchor="t">
            <a:spAutoFit/>
          </a:bodyPr>
          <a:lstStyle/>
          <a:p>
            <a:pPr algn="l"/>
            <a:r>
              <a:rPr sz="1200" b="1" i="0">
                <a:solidFill>
                  <a:srgbClr val="131A24"/>
                </a:solidFill>
                <a:latin typeface="Calibri"/>
              </a:rPr>
              <a:t>Industry associations</a:t>
            </a:r>
          </a:p>
        </p:txBody>
      </p:sp>
      <p:sp>
        <p:nvSpPr>
          <p:cNvPr id="31" name="TextBox 30"/>
          <p:cNvSpPr txBox="1"/>
          <p:nvPr/>
        </p:nvSpPr>
        <p:spPr>
          <a:xfrm>
            <a:off x="3310128" y="5138928"/>
            <a:ext cx="1828800" cy="457200"/>
          </a:xfrm>
          <a:prstGeom prst="rect">
            <a:avLst/>
          </a:prstGeom>
          <a:noFill/>
        </p:spPr>
        <p:txBody>
          <a:bodyPr wrap="square" anchor="t">
            <a:spAutoFit/>
          </a:bodyPr>
          <a:lstStyle/>
          <a:p>
            <a:pPr algn="l"/>
            <a:r>
              <a:rPr sz="1200" b="0" i="0">
                <a:solidFill>
                  <a:srgbClr val="5B6473"/>
                </a:solidFill>
                <a:latin typeface="Calibri"/>
              </a:rPr>
              <a:t>List to be built</a:t>
            </a:r>
          </a:p>
        </p:txBody>
      </p:sp>
      <p:sp>
        <p:nvSpPr>
          <p:cNvPr id="32" name="TextBox 31"/>
          <p:cNvSpPr txBox="1"/>
          <p:nvPr/>
        </p:nvSpPr>
        <p:spPr>
          <a:xfrm>
            <a:off x="5321808" y="5138928"/>
            <a:ext cx="3840480" cy="457200"/>
          </a:xfrm>
          <a:prstGeom prst="rect">
            <a:avLst/>
          </a:prstGeom>
          <a:noFill/>
        </p:spPr>
        <p:txBody>
          <a:bodyPr wrap="square" anchor="t">
            <a:spAutoFit/>
          </a:bodyPr>
          <a:lstStyle/>
          <a:p>
            <a:pPr algn="l"/>
            <a:r>
              <a:rPr sz="1200" b="0" i="0">
                <a:solidFill>
                  <a:srgbClr val="5B6473"/>
                </a:solidFill>
                <a:latin typeface="Calibri"/>
              </a:rPr>
              <a:t>Association CEOs and comms leads</a:t>
            </a:r>
          </a:p>
        </p:txBody>
      </p:sp>
      <p:sp>
        <p:nvSpPr>
          <p:cNvPr id="33" name="TextBox 32"/>
          <p:cNvSpPr txBox="1"/>
          <p:nvPr/>
        </p:nvSpPr>
        <p:spPr>
          <a:xfrm>
            <a:off x="9345168" y="5138928"/>
            <a:ext cx="1920240" cy="457200"/>
          </a:xfrm>
          <a:prstGeom prst="rect">
            <a:avLst/>
          </a:prstGeom>
          <a:noFill/>
        </p:spPr>
        <p:txBody>
          <a:bodyPr wrap="square" anchor="t">
            <a:spAutoFit/>
          </a:bodyPr>
          <a:lstStyle/>
          <a:p>
            <a:pPr algn="l"/>
            <a:r>
              <a:rPr sz="1200" b="0" i="0">
                <a:solidFill>
                  <a:srgbClr val="5B6473"/>
                </a:solidFill>
                <a:latin typeface="Calibri"/>
              </a:rPr>
              <a:t>August, plus partnerships</a:t>
            </a:r>
          </a:p>
        </p:txBody>
      </p:sp>
      <p:sp>
        <p:nvSpPr>
          <p:cNvPr id="34" name="TextBox 33"/>
          <p:cNvSpPr txBox="1"/>
          <p:nvPr/>
        </p:nvSpPr>
        <p:spPr>
          <a:xfrm>
            <a:off x="822960" y="5852160"/>
            <a:ext cx="10515600" cy="1005840"/>
          </a:xfrm>
          <a:prstGeom prst="rect">
            <a:avLst/>
          </a:prstGeom>
          <a:noFill/>
        </p:spPr>
        <p:txBody>
          <a:bodyPr wrap="square" anchor="t">
            <a:spAutoFit/>
          </a:bodyPr>
          <a:lstStyle/>
          <a:p>
            <a:pPr algn="l"/>
            <a:r>
              <a:rPr sz="1200" b="0" i="0">
                <a:solidFill>
                  <a:srgbClr val="5B6473"/>
                </a:solidFill>
                <a:latin typeface="Calibri"/>
              </a:rPr>
              <a:t>Round 1 goes to every segment this week. The one carve-out: the full 1.25 million business list cannot be sent in bulk (spam law and deliverability both break); a 5,000-contact pilot goes this week and its results set the wider rollout. Associations have no list yet, so that list is built in parallel for August.</a:t>
            </a:r>
          </a:p>
        </p:txBody>
      </p:sp>
      <p:sp>
        <p:nvSpPr>
          <p:cNvPr id="35" name="TextBox 34"/>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COMPLIANCE</a:t>
            </a:r>
          </a:p>
          <a:p>
            <a:pPr algn="l"/>
            <a:r>
              <a:rPr sz="2700" b="1" i="0">
                <a:solidFill>
                  <a:srgbClr val="131A24"/>
                </a:solidFill>
                <a:latin typeface="Calibri"/>
              </a:rPr>
              <a:t>How we send legally under the Spam Act 2003</a:t>
            </a:r>
          </a:p>
        </p:txBody>
      </p:sp>
      <p:sp>
        <p:nvSpPr>
          <p:cNvPr id="5" name="TextBox 4"/>
          <p:cNvSpPr txBox="1"/>
          <p:nvPr/>
        </p:nvSpPr>
        <p:spPr>
          <a:xfrm>
            <a:off x="822960" y="1828800"/>
            <a:ext cx="10515600" cy="4480560"/>
          </a:xfrm>
          <a:prstGeom prst="rect">
            <a:avLst/>
          </a:prstGeom>
          <a:noFill/>
        </p:spPr>
        <p:txBody>
          <a:bodyPr wrap="square" anchor="t">
            <a:spAutoFit/>
          </a:bodyPr>
          <a:lstStyle/>
          <a:p>
            <a:pPr algn="l">
              <a:spcBef>
                <a:spcPts val="600"/>
              </a:spcBef>
              <a:spcAft>
                <a:spcPts val="200"/>
              </a:spcAft>
            </a:pPr>
            <a:r>
              <a:rPr sz="1500" b="1" i="0">
                <a:solidFill>
                  <a:srgbClr val="131A24"/>
                </a:solidFill>
                <a:latin typeface="Calibri"/>
              </a:rPr>
              <a:t>The legal basis: inferred consent through conspicuous publication.</a:t>
            </a:r>
          </a:p>
          <a:p>
            <a:pPr algn="l">
              <a:spcAft>
                <a:spcPts val="400"/>
              </a:spcAft>
            </a:pPr>
            <a:r>
              <a:rPr sz="1250" b="0" i="0">
                <a:solidFill>
                  <a:srgbClr val="5B6473"/>
                </a:solidFill>
                <a:latin typeface="Calibri"/>
              </a:rPr>
              <a:t>Cold email is lawful in Australia when the address is publicly published in a work capacity, carries no 'no unsolicited email' notice, and the message is directly relevant to the recipient's role. Crisis communications training to a principal or council CEO passes that test. We verify and record the public source of every address before it enters a send list.</a:t>
            </a:r>
          </a:p>
          <a:p>
            <a:pPr algn="l">
              <a:spcBef>
                <a:spcPts val="600"/>
              </a:spcBef>
              <a:spcAft>
                <a:spcPts val="200"/>
              </a:spcAft>
            </a:pPr>
            <a:r>
              <a:rPr sz="1500" b="1" i="0">
                <a:solidFill>
                  <a:srgbClr val="131A24"/>
                </a:solidFill>
                <a:latin typeface="Calibri"/>
              </a:rPr>
              <a:t>Every email carries full sender identity and a working unsubscribe.</a:t>
            </a:r>
          </a:p>
          <a:p>
            <a:pPr algn="l">
              <a:spcAft>
                <a:spcPts val="400"/>
              </a:spcAft>
            </a:pPr>
            <a:r>
              <a:rPr sz="1250" b="0" i="0">
                <a:solidFill>
                  <a:srgbClr val="5B6473"/>
                </a:solidFill>
                <a:latin typeface="Calibri"/>
              </a:rPr>
              <a:t>My PR Partner named as sender with an Australian postal address, and an unsubscribe honoured within five business days and suppressed across all future sends. Unsubscribe failures are ACMA's current enforcement priority (over $16 million in penalties in the last 18 months), so this is built in from day one.</a:t>
            </a:r>
          </a:p>
          <a:p>
            <a:pPr algn="l">
              <a:spcBef>
                <a:spcPts val="600"/>
              </a:spcBef>
              <a:spcAft>
                <a:spcPts val="200"/>
              </a:spcAft>
            </a:pPr>
            <a:r>
              <a:rPr sz="1500" b="1" i="0">
                <a:solidFill>
                  <a:srgbClr val="131A24"/>
                </a:solidFill>
                <a:latin typeface="Calibri"/>
              </a:rPr>
              <a:t>Volumes stay low, personalised and role-relevant.</a:t>
            </a:r>
          </a:p>
          <a:p>
            <a:pPr algn="l">
              <a:spcAft>
                <a:spcPts val="400"/>
              </a:spcAft>
            </a:pPr>
            <a:r>
              <a:rPr sz="1250" b="0" i="0">
                <a:solidFill>
                  <a:srgbClr val="5B6473"/>
                </a:solidFill>
                <a:latin typeface="Calibri"/>
              </a:rPr>
              <a:t>We send from dedicated infrastructure (not your Kajabi account, which is reserved for opted-in members), throttled to a few hundred a day. The 1.25 million business list does not get this campaign: it fails the role-relevance test and would put the domain at risk.</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MESSAGING</a:t>
            </a:r>
          </a:p>
          <a:p>
            <a:pPr algn="l"/>
            <a:r>
              <a:rPr sz="2700" b="1" i="0">
                <a:solidFill>
                  <a:srgbClr val="131A24"/>
                </a:solidFill>
                <a:latin typeface="Calibri"/>
              </a:rPr>
              <a:t>One spine, tuned per audience</a:t>
            </a:r>
          </a:p>
        </p:txBody>
      </p:sp>
      <p:sp>
        <p:nvSpPr>
          <p:cNvPr id="5" name="TextBox 4"/>
          <p:cNvSpPr txBox="1"/>
          <p:nvPr/>
        </p:nvSpPr>
        <p:spPr>
          <a:xfrm>
            <a:off x="822960" y="1828800"/>
            <a:ext cx="2103120" cy="731520"/>
          </a:xfrm>
          <a:prstGeom prst="rect">
            <a:avLst/>
          </a:prstGeom>
          <a:noFill/>
        </p:spPr>
        <p:txBody>
          <a:bodyPr wrap="square" anchor="t">
            <a:spAutoFit/>
          </a:bodyPr>
          <a:lstStyle/>
          <a:p>
            <a:pPr algn="l"/>
            <a:r>
              <a:rPr sz="1500" b="1" i="0">
                <a:solidFill>
                  <a:srgbClr val="FF6B38"/>
                </a:solidFill>
                <a:latin typeface="Calibri"/>
              </a:rPr>
              <a:t>1. Hook</a:t>
            </a:r>
          </a:p>
        </p:txBody>
      </p:sp>
      <p:sp>
        <p:nvSpPr>
          <p:cNvPr id="6" name="TextBox 5"/>
          <p:cNvSpPr txBox="1"/>
          <p:nvPr/>
        </p:nvSpPr>
        <p:spPr>
          <a:xfrm>
            <a:off x="3017520" y="1828800"/>
            <a:ext cx="8321040" cy="868680"/>
          </a:xfrm>
          <a:prstGeom prst="rect">
            <a:avLst/>
          </a:prstGeom>
          <a:noFill/>
        </p:spPr>
        <p:txBody>
          <a:bodyPr wrap="square" anchor="t">
            <a:spAutoFit/>
          </a:bodyPr>
          <a:lstStyle/>
          <a:p>
            <a:pPr algn="l"/>
            <a:r>
              <a:rPr sz="1250" b="0" i="0">
                <a:solidFill>
                  <a:srgbClr val="5B6473"/>
                </a:solidFill>
                <a:latin typeface="Calibri"/>
              </a:rPr>
              <a:t>A current, third-party-verified fear: the 87.6% stat for principals, the MAV/ANU disinformation report for councils, the member-scandal scenario for associations. Never a named victim organisation.</a:t>
            </a:r>
          </a:p>
        </p:txBody>
      </p:sp>
      <p:sp>
        <p:nvSpPr>
          <p:cNvPr id="7" name="TextBox 6"/>
          <p:cNvSpPr txBox="1"/>
          <p:nvPr/>
        </p:nvSpPr>
        <p:spPr>
          <a:xfrm>
            <a:off x="822960" y="2697480"/>
            <a:ext cx="2103120" cy="731520"/>
          </a:xfrm>
          <a:prstGeom prst="rect">
            <a:avLst/>
          </a:prstGeom>
          <a:noFill/>
        </p:spPr>
        <p:txBody>
          <a:bodyPr wrap="square" anchor="t">
            <a:spAutoFit/>
          </a:bodyPr>
          <a:lstStyle/>
          <a:p>
            <a:pPr algn="l"/>
            <a:r>
              <a:rPr sz="1500" b="1" i="0">
                <a:solidFill>
                  <a:srgbClr val="FF6B38"/>
                </a:solidFill>
                <a:latin typeface="Calibri"/>
              </a:rPr>
              <a:t>2. Gap</a:t>
            </a:r>
          </a:p>
        </p:txBody>
      </p:sp>
      <p:sp>
        <p:nvSpPr>
          <p:cNvPr id="8" name="TextBox 7"/>
          <p:cNvSpPr txBox="1"/>
          <p:nvPr/>
        </p:nvSpPr>
        <p:spPr>
          <a:xfrm>
            <a:off x="3017520" y="2697480"/>
            <a:ext cx="8321040" cy="868680"/>
          </a:xfrm>
          <a:prstGeom prst="rect">
            <a:avLst/>
          </a:prstGeom>
          <a:noFill/>
        </p:spPr>
        <p:txBody>
          <a:bodyPr wrap="square" anchor="t">
            <a:spAutoFit/>
          </a:bodyPr>
          <a:lstStyle/>
          <a:p>
            <a:pPr algn="l"/>
            <a:r>
              <a:rPr sz="1250" b="0" i="0">
                <a:solidFill>
                  <a:srgbClr val="5B6473"/>
                </a:solidFill>
                <a:latin typeface="Calibri"/>
              </a:rPr>
              <a:t>Your plans cover operations, not communications. Consultants arrive after the damage.</a:t>
            </a:r>
          </a:p>
        </p:txBody>
      </p:sp>
      <p:sp>
        <p:nvSpPr>
          <p:cNvPr id="9" name="TextBox 8"/>
          <p:cNvSpPr txBox="1"/>
          <p:nvPr/>
        </p:nvSpPr>
        <p:spPr>
          <a:xfrm>
            <a:off x="822960" y="3566160"/>
            <a:ext cx="2103120" cy="731520"/>
          </a:xfrm>
          <a:prstGeom prst="rect">
            <a:avLst/>
          </a:prstGeom>
          <a:noFill/>
        </p:spPr>
        <p:txBody>
          <a:bodyPr wrap="square" anchor="t">
            <a:spAutoFit/>
          </a:bodyPr>
          <a:lstStyle/>
          <a:p>
            <a:pPr algn="l"/>
            <a:r>
              <a:rPr sz="1500" b="1" i="0">
                <a:solidFill>
                  <a:srgbClr val="FF6B38"/>
                </a:solidFill>
                <a:latin typeface="Calibri"/>
              </a:rPr>
              <a:t>3. Authority</a:t>
            </a:r>
          </a:p>
        </p:txBody>
      </p:sp>
      <p:sp>
        <p:nvSpPr>
          <p:cNvPr id="10" name="TextBox 9"/>
          <p:cNvSpPr txBox="1"/>
          <p:nvPr/>
        </p:nvSpPr>
        <p:spPr>
          <a:xfrm>
            <a:off x="3017520" y="3566160"/>
            <a:ext cx="8321040" cy="868680"/>
          </a:xfrm>
          <a:prstGeom prst="rect">
            <a:avLst/>
          </a:prstGeom>
          <a:noFill/>
        </p:spPr>
        <p:txBody>
          <a:bodyPr wrap="square" anchor="t">
            <a:spAutoFit/>
          </a:bodyPr>
          <a:lstStyle/>
          <a:p>
            <a:pPr algn="l"/>
            <a:r>
              <a:rPr sz="1250" b="0" i="0">
                <a:solidFill>
                  <a:srgbClr val="5B6473"/>
                </a:solidFill>
                <a:latin typeface="Calibri"/>
              </a:rPr>
              <a:t>Melissa Agnes and the Crisis Ready Institute, exclusive to My PR Partner in Australasia, backed by Lyall's 25+ years and a peer-reviewed evidence base.</a:t>
            </a:r>
          </a:p>
        </p:txBody>
      </p:sp>
      <p:sp>
        <p:nvSpPr>
          <p:cNvPr id="11" name="TextBox 10"/>
          <p:cNvSpPr txBox="1"/>
          <p:nvPr/>
        </p:nvSpPr>
        <p:spPr>
          <a:xfrm>
            <a:off x="822960" y="4434840"/>
            <a:ext cx="2103120" cy="731520"/>
          </a:xfrm>
          <a:prstGeom prst="rect">
            <a:avLst/>
          </a:prstGeom>
          <a:noFill/>
        </p:spPr>
        <p:txBody>
          <a:bodyPr wrap="square" anchor="t">
            <a:spAutoFit/>
          </a:bodyPr>
          <a:lstStyle/>
          <a:p>
            <a:pPr algn="l"/>
            <a:r>
              <a:rPr sz="1500" b="1" i="0">
                <a:solidFill>
                  <a:srgbClr val="FF6B38"/>
                </a:solidFill>
                <a:latin typeface="Calibri"/>
              </a:rPr>
              <a:t>4. Anchor</a:t>
            </a:r>
          </a:p>
        </p:txBody>
      </p:sp>
      <p:sp>
        <p:nvSpPr>
          <p:cNvPr id="12" name="TextBox 11"/>
          <p:cNvSpPr txBox="1"/>
          <p:nvPr/>
        </p:nvSpPr>
        <p:spPr>
          <a:xfrm>
            <a:off x="3017520" y="4434840"/>
            <a:ext cx="8321040" cy="868680"/>
          </a:xfrm>
          <a:prstGeom prst="rect">
            <a:avLst/>
          </a:prstGeom>
          <a:noFill/>
        </p:spPr>
        <p:txBody>
          <a:bodyPr wrap="square" anchor="t">
            <a:spAutoFit/>
          </a:bodyPr>
          <a:lstStyle/>
          <a:p>
            <a:pPr algn="l"/>
            <a:r>
              <a:rPr sz="1250" b="0" i="0">
                <a:solidFill>
                  <a:srgbClr val="5B6473"/>
                </a:solidFill>
                <a:latin typeface="Calibri"/>
              </a:rPr>
              <a:t>A whole year costs less than one workshop day elsewhere.</a:t>
            </a:r>
          </a:p>
        </p:txBody>
      </p:sp>
      <p:sp>
        <p:nvSpPr>
          <p:cNvPr id="13" name="TextBox 12"/>
          <p:cNvSpPr txBox="1"/>
          <p:nvPr/>
        </p:nvSpPr>
        <p:spPr>
          <a:xfrm>
            <a:off x="822960" y="5303520"/>
            <a:ext cx="2103120" cy="731520"/>
          </a:xfrm>
          <a:prstGeom prst="rect">
            <a:avLst/>
          </a:prstGeom>
          <a:noFill/>
        </p:spPr>
        <p:txBody>
          <a:bodyPr wrap="square" anchor="t">
            <a:spAutoFit/>
          </a:bodyPr>
          <a:lstStyle/>
          <a:p>
            <a:pPr algn="l"/>
            <a:r>
              <a:rPr sz="1500" b="1" i="0">
                <a:solidFill>
                  <a:srgbClr val="FF6B38"/>
                </a:solidFill>
                <a:latin typeface="Calibri"/>
              </a:rPr>
              <a:t>5. Ease</a:t>
            </a:r>
          </a:p>
        </p:txBody>
      </p:sp>
      <p:sp>
        <p:nvSpPr>
          <p:cNvPr id="14" name="TextBox 13"/>
          <p:cNvSpPr txBox="1"/>
          <p:nvPr/>
        </p:nvSpPr>
        <p:spPr>
          <a:xfrm>
            <a:off x="3017520" y="5303520"/>
            <a:ext cx="8321040" cy="868680"/>
          </a:xfrm>
          <a:prstGeom prst="rect">
            <a:avLst/>
          </a:prstGeom>
          <a:noFill/>
        </p:spPr>
        <p:txBody>
          <a:bodyPr wrap="square" anchor="t">
            <a:spAutoFit/>
          </a:bodyPr>
          <a:lstStyle/>
          <a:p>
            <a:pPr algn="l"/>
            <a:r>
              <a:rPr sz="1250" b="0" i="0">
                <a:solidFill>
                  <a:srgbClr val="5B6473"/>
                </a:solidFill>
                <a:latin typeface="Calibri"/>
              </a:rPr>
              <a:t>Online, self-paced, monthly billing, certificate at the end. Nothing to procure, nothing to install.</a:t>
            </a:r>
          </a:p>
        </p:txBody>
      </p:sp>
      <p:sp>
        <p:nvSpPr>
          <p:cNvPr id="15" name="TextBox 14"/>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LEAD MAGNETS</a:t>
            </a:r>
          </a:p>
          <a:p>
            <a:pPr algn="l"/>
            <a:r>
              <a:rPr sz="2700" b="1" i="0">
                <a:solidFill>
                  <a:srgbClr val="131A24"/>
                </a:solidFill>
                <a:latin typeface="Calibri"/>
              </a:rPr>
              <a:t>Three new assets, built in your existing style</a:t>
            </a:r>
          </a:p>
        </p:txBody>
      </p:sp>
      <p:pic>
        <p:nvPicPr>
          <p:cNvPr id="5" name="Picture 4" descr="thumb-evidence-emotion-led-crisis.png"/>
          <p:cNvPicPr>
            <a:picLocks noChangeAspect="1"/>
          </p:cNvPicPr>
          <p:nvPr/>
        </p:nvPicPr>
        <p:blipFill>
          <a:blip r:embed="rId2"/>
          <a:stretch>
            <a:fillRect/>
          </a:stretch>
        </p:blipFill>
        <p:spPr>
          <a:xfrm>
            <a:off x="822960" y="1737360"/>
            <a:ext cx="2198962" cy="3108960"/>
          </a:xfrm>
          <a:prstGeom prst="rect">
            <a:avLst/>
          </a:prstGeom>
        </p:spPr>
      </p:pic>
      <p:sp>
        <p:nvSpPr>
          <p:cNvPr id="6" name="TextBox 5"/>
          <p:cNvSpPr txBox="1"/>
          <p:nvPr/>
        </p:nvSpPr>
        <p:spPr>
          <a:xfrm>
            <a:off x="822960" y="4937760"/>
            <a:ext cx="3383280" cy="1371600"/>
          </a:xfrm>
          <a:prstGeom prst="rect">
            <a:avLst/>
          </a:prstGeom>
          <a:noFill/>
        </p:spPr>
        <p:txBody>
          <a:bodyPr wrap="square" anchor="t">
            <a:spAutoFit/>
          </a:bodyPr>
          <a:lstStyle/>
          <a:p>
            <a:pPr algn="l">
              <a:spcAft>
                <a:spcPts val="200"/>
              </a:spcAft>
            </a:pPr>
            <a:r>
              <a:rPr sz="1100" b="1" i="0">
                <a:solidFill>
                  <a:srgbClr val="FF6B38"/>
                </a:solidFill>
                <a:latin typeface="Calibri"/>
              </a:rPr>
              <a:t>RESEARCH BRIEFING</a:t>
            </a:r>
          </a:p>
          <a:p>
            <a:pPr algn="l"/>
            <a:r>
              <a:rPr sz="1100" b="0" i="0">
                <a:solidFill>
                  <a:srgbClr val="5B6473"/>
                </a:solidFill>
                <a:latin typeface="Calibri"/>
              </a:rPr>
              <a:t>The Evidence Behind Emotion-Led Crisis Management. 3 pages, fully referenced. For association and council CEOs who need a rational justification.</a:t>
            </a:r>
          </a:p>
        </p:txBody>
      </p:sp>
      <p:pic>
        <p:nvPicPr>
          <p:cNvPr id="7" name="Picture 6" descr="thumb-crisis-first-24-hours.png"/>
          <p:cNvPicPr>
            <a:picLocks noChangeAspect="1"/>
          </p:cNvPicPr>
          <p:nvPr/>
        </p:nvPicPr>
        <p:blipFill>
          <a:blip r:embed="rId3"/>
          <a:stretch>
            <a:fillRect/>
          </a:stretch>
        </p:blipFill>
        <p:spPr>
          <a:xfrm>
            <a:off x="4434840" y="1737360"/>
            <a:ext cx="2198962" cy="3108960"/>
          </a:xfrm>
          <a:prstGeom prst="rect">
            <a:avLst/>
          </a:prstGeom>
        </p:spPr>
      </p:pic>
      <p:sp>
        <p:nvSpPr>
          <p:cNvPr id="8" name="TextBox 7"/>
          <p:cNvSpPr txBox="1"/>
          <p:nvPr/>
        </p:nvSpPr>
        <p:spPr>
          <a:xfrm>
            <a:off x="4434840" y="4937760"/>
            <a:ext cx="3383280" cy="1371600"/>
          </a:xfrm>
          <a:prstGeom prst="rect">
            <a:avLst/>
          </a:prstGeom>
          <a:noFill/>
        </p:spPr>
        <p:txBody>
          <a:bodyPr wrap="square" anchor="t">
            <a:spAutoFit/>
          </a:bodyPr>
          <a:lstStyle/>
          <a:p>
            <a:pPr algn="l">
              <a:spcAft>
                <a:spcPts val="200"/>
              </a:spcAft>
            </a:pPr>
            <a:r>
              <a:rPr sz="1100" b="1" i="0">
                <a:solidFill>
                  <a:srgbClr val="FF6B38"/>
                </a:solidFill>
                <a:latin typeface="Calibri"/>
              </a:rPr>
              <a:t>DESK GUIDE</a:t>
            </a:r>
          </a:p>
          <a:p>
            <a:pPr algn="l"/>
            <a:r>
              <a:rPr sz="1100" b="0" i="0">
                <a:solidFill>
                  <a:srgbClr val="5B6473"/>
                </a:solidFill>
                <a:latin typeface="Calibri"/>
              </a:rPr>
              <a:t>The First 24 Hours. One page: issue-vs-crisis triage, the first-day order of operations, and the Validate, Relate, Reassure formula.</a:t>
            </a:r>
          </a:p>
        </p:txBody>
      </p:sp>
      <p:pic>
        <p:nvPicPr>
          <p:cNvPr id="9" name="Picture 8" descr="thumb-school-deepfake-response.png"/>
          <p:cNvPicPr>
            <a:picLocks noChangeAspect="1"/>
          </p:cNvPicPr>
          <p:nvPr/>
        </p:nvPicPr>
        <p:blipFill>
          <a:blip r:embed="rId4"/>
          <a:stretch>
            <a:fillRect/>
          </a:stretch>
        </p:blipFill>
        <p:spPr>
          <a:xfrm>
            <a:off x="8046720" y="1737360"/>
            <a:ext cx="2198962" cy="3108960"/>
          </a:xfrm>
          <a:prstGeom prst="rect">
            <a:avLst/>
          </a:prstGeom>
        </p:spPr>
      </p:pic>
      <p:sp>
        <p:nvSpPr>
          <p:cNvPr id="10" name="TextBox 9"/>
          <p:cNvSpPr txBox="1"/>
          <p:nvPr/>
        </p:nvSpPr>
        <p:spPr>
          <a:xfrm>
            <a:off x="8046720" y="4937760"/>
            <a:ext cx="3383280" cy="1371600"/>
          </a:xfrm>
          <a:prstGeom prst="rect">
            <a:avLst/>
          </a:prstGeom>
          <a:noFill/>
        </p:spPr>
        <p:txBody>
          <a:bodyPr wrap="square" anchor="t">
            <a:spAutoFit/>
          </a:bodyPr>
          <a:lstStyle/>
          <a:p>
            <a:pPr algn="l">
              <a:spcAft>
                <a:spcPts val="200"/>
              </a:spcAft>
            </a:pPr>
            <a:r>
              <a:rPr sz="1100" b="1" i="0">
                <a:solidFill>
                  <a:srgbClr val="FF6B38"/>
                </a:solidFill>
                <a:latin typeface="Calibri"/>
              </a:rPr>
              <a:t>SCHOOLS TEMPLATE</a:t>
            </a:r>
          </a:p>
          <a:p>
            <a:pPr algn="l"/>
            <a:r>
              <a:rPr sz="1100" b="0" i="0">
                <a:solidFill>
                  <a:srgbClr val="5B6473"/>
                </a:solidFill>
                <a:latin typeface="Calibri"/>
              </a:rPr>
              <a:t>Deepfake Incident Response. Five-step day-one plan plus the ready-to-adapt parent letter. Rides the most current fear in the sector.</a:t>
            </a:r>
          </a:p>
        </p:txBody>
      </p:sp>
      <p:sp>
        <p:nvSpPr>
          <p:cNvPr id="11" name="TextBox 10"/>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THE SEQUENCES</a:t>
            </a:r>
          </a:p>
          <a:p>
            <a:pPr algn="l"/>
            <a:r>
              <a:rPr sz="2700" b="1" i="0">
                <a:solidFill>
                  <a:srgbClr val="131A24"/>
                </a:solidFill>
                <a:latin typeface="Calibri"/>
              </a:rPr>
              <a:t>Four emails per audience over ten days</a:t>
            </a:r>
          </a:p>
        </p:txBody>
      </p:sp>
      <p:sp>
        <p:nvSpPr>
          <p:cNvPr id="5" name="Rectangle 4"/>
          <p:cNvSpPr/>
          <p:nvPr/>
        </p:nvSpPr>
        <p:spPr>
          <a:xfrm>
            <a:off x="822960" y="1828800"/>
            <a:ext cx="1554480" cy="77724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93392"/>
            <a:ext cx="1554480" cy="457200"/>
          </a:xfrm>
          <a:prstGeom prst="rect">
            <a:avLst/>
          </a:prstGeom>
          <a:noFill/>
        </p:spPr>
        <p:txBody>
          <a:bodyPr wrap="square" anchor="t">
            <a:spAutoFit/>
          </a:bodyPr>
          <a:lstStyle/>
          <a:p>
            <a:pPr algn="ctr"/>
            <a:r>
              <a:rPr sz="1600" b="1" i="0">
                <a:solidFill>
                  <a:srgbClr val="FF6B38"/>
                </a:solidFill>
                <a:latin typeface="Calibri"/>
              </a:rPr>
              <a:t>Day 0</a:t>
            </a:r>
          </a:p>
        </p:txBody>
      </p:sp>
      <p:sp>
        <p:nvSpPr>
          <p:cNvPr id="7" name="TextBox 6"/>
          <p:cNvSpPr txBox="1"/>
          <p:nvPr/>
        </p:nvSpPr>
        <p:spPr>
          <a:xfrm>
            <a:off x="2651760" y="1847088"/>
            <a:ext cx="8686800" cy="822960"/>
          </a:xfrm>
          <a:prstGeom prst="rect">
            <a:avLst/>
          </a:prstGeom>
          <a:noFill/>
        </p:spPr>
        <p:txBody>
          <a:bodyPr wrap="square" anchor="t">
            <a:spAutoFit/>
          </a:bodyPr>
          <a:lstStyle/>
          <a:p>
            <a:pPr algn="l">
              <a:spcAft>
                <a:spcPts val="100"/>
              </a:spcAft>
            </a:pPr>
            <a:r>
              <a:rPr sz="1450" b="1" i="0">
                <a:solidFill>
                  <a:srgbClr val="131A24"/>
                </a:solidFill>
                <a:latin typeface="Calibri"/>
              </a:rPr>
              <a:t>Give value, no ask</a:t>
            </a:r>
          </a:p>
          <a:p>
            <a:pPr algn="l"/>
            <a:r>
              <a:rPr sz="1200" b="0" i="0">
                <a:solidFill>
                  <a:srgbClr val="5B6473"/>
                </a:solidFill>
                <a:latin typeface="Calibri"/>
              </a:rPr>
              <a:t>Free lead magnet, no pitch. Earns the right to the next email.</a:t>
            </a:r>
          </a:p>
        </p:txBody>
      </p:sp>
      <p:sp>
        <p:nvSpPr>
          <p:cNvPr id="8" name="Rectangle 7"/>
          <p:cNvSpPr/>
          <p:nvPr/>
        </p:nvSpPr>
        <p:spPr>
          <a:xfrm>
            <a:off x="822960" y="2761488"/>
            <a:ext cx="1554480" cy="77724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26080"/>
            <a:ext cx="1554480" cy="457200"/>
          </a:xfrm>
          <a:prstGeom prst="rect">
            <a:avLst/>
          </a:prstGeom>
          <a:noFill/>
        </p:spPr>
        <p:txBody>
          <a:bodyPr wrap="square" anchor="t">
            <a:spAutoFit/>
          </a:bodyPr>
          <a:lstStyle/>
          <a:p>
            <a:pPr algn="ctr"/>
            <a:r>
              <a:rPr sz="1600" b="1" i="0">
                <a:solidFill>
                  <a:srgbClr val="FF6B38"/>
                </a:solidFill>
                <a:latin typeface="Calibri"/>
              </a:rPr>
              <a:t>Day 3</a:t>
            </a:r>
          </a:p>
        </p:txBody>
      </p:sp>
      <p:sp>
        <p:nvSpPr>
          <p:cNvPr id="10" name="TextBox 9"/>
          <p:cNvSpPr txBox="1"/>
          <p:nvPr/>
        </p:nvSpPr>
        <p:spPr>
          <a:xfrm>
            <a:off x="2651760" y="2779776"/>
            <a:ext cx="8686800" cy="822960"/>
          </a:xfrm>
          <a:prstGeom prst="rect">
            <a:avLst/>
          </a:prstGeom>
          <a:noFill/>
        </p:spPr>
        <p:txBody>
          <a:bodyPr wrap="square" anchor="t">
            <a:spAutoFit/>
          </a:bodyPr>
          <a:lstStyle/>
          <a:p>
            <a:pPr algn="l">
              <a:spcAft>
                <a:spcPts val="100"/>
              </a:spcAft>
            </a:pPr>
            <a:r>
              <a:rPr sz="1450" b="1" i="0">
                <a:solidFill>
                  <a:srgbClr val="131A24"/>
                </a:solidFill>
                <a:latin typeface="Calibri"/>
              </a:rPr>
              <a:t>Story and gap</a:t>
            </a:r>
          </a:p>
          <a:p>
            <a:pPr algn="l"/>
            <a:r>
              <a:rPr sz="1200" b="0" i="0">
                <a:solidFill>
                  <a:srgbClr val="5B6473"/>
                </a:solidFill>
                <a:latin typeface="Calibri"/>
              </a:rPr>
              <a:t>The first-24-hours truth, and why emotion beats logic. Course outline offered.</a:t>
            </a:r>
          </a:p>
        </p:txBody>
      </p:sp>
      <p:sp>
        <p:nvSpPr>
          <p:cNvPr id="11" name="Rectangle 10"/>
          <p:cNvSpPr/>
          <p:nvPr/>
        </p:nvSpPr>
        <p:spPr>
          <a:xfrm>
            <a:off x="822960" y="3694176"/>
            <a:ext cx="1554480" cy="77724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858768"/>
            <a:ext cx="1554480" cy="457200"/>
          </a:xfrm>
          <a:prstGeom prst="rect">
            <a:avLst/>
          </a:prstGeom>
          <a:noFill/>
        </p:spPr>
        <p:txBody>
          <a:bodyPr wrap="square" anchor="t">
            <a:spAutoFit/>
          </a:bodyPr>
          <a:lstStyle/>
          <a:p>
            <a:pPr algn="ctr"/>
            <a:r>
              <a:rPr sz="1600" b="1" i="0">
                <a:solidFill>
                  <a:srgbClr val="FF6B38"/>
                </a:solidFill>
                <a:latin typeface="Calibri"/>
              </a:rPr>
              <a:t>Day 7</a:t>
            </a:r>
          </a:p>
        </p:txBody>
      </p:sp>
      <p:sp>
        <p:nvSpPr>
          <p:cNvPr id="13" name="TextBox 12"/>
          <p:cNvSpPr txBox="1"/>
          <p:nvPr/>
        </p:nvSpPr>
        <p:spPr>
          <a:xfrm>
            <a:off x="2651760" y="3712464"/>
            <a:ext cx="8686800" cy="822960"/>
          </a:xfrm>
          <a:prstGeom prst="rect">
            <a:avLst/>
          </a:prstGeom>
          <a:noFill/>
        </p:spPr>
        <p:txBody>
          <a:bodyPr wrap="square" anchor="t">
            <a:spAutoFit/>
          </a:bodyPr>
          <a:lstStyle/>
          <a:p>
            <a:pPr algn="l">
              <a:spcAft>
                <a:spcPts val="100"/>
              </a:spcAft>
            </a:pPr>
            <a:r>
              <a:rPr sz="1450" b="1" i="0">
                <a:solidFill>
                  <a:srgbClr val="131A24"/>
                </a:solidFill>
                <a:latin typeface="Calibri"/>
              </a:rPr>
              <a:t>Offer and anchor</a:t>
            </a:r>
          </a:p>
          <a:p>
            <a:pPr algn="l"/>
            <a:r>
              <a:rPr sz="1200" b="0" i="0">
                <a:solidFill>
                  <a:srgbClr val="5B6473"/>
                </a:solidFill>
                <a:latin typeface="Calibri"/>
              </a:rPr>
              <a:t>The price comparison, what is included, and the enrolment link.</a:t>
            </a:r>
          </a:p>
        </p:txBody>
      </p:sp>
      <p:sp>
        <p:nvSpPr>
          <p:cNvPr id="14" name="Rectangle 13"/>
          <p:cNvSpPr/>
          <p:nvPr/>
        </p:nvSpPr>
        <p:spPr>
          <a:xfrm>
            <a:off x="822960" y="4626864"/>
            <a:ext cx="1554480" cy="77724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791456"/>
            <a:ext cx="1554480" cy="457200"/>
          </a:xfrm>
          <a:prstGeom prst="rect">
            <a:avLst/>
          </a:prstGeom>
          <a:noFill/>
        </p:spPr>
        <p:txBody>
          <a:bodyPr wrap="square" anchor="t">
            <a:spAutoFit/>
          </a:bodyPr>
          <a:lstStyle/>
          <a:p>
            <a:pPr algn="ctr"/>
            <a:r>
              <a:rPr sz="1600" b="1" i="0">
                <a:solidFill>
                  <a:srgbClr val="FF6B38"/>
                </a:solidFill>
                <a:latin typeface="Calibri"/>
              </a:rPr>
              <a:t>Day 10</a:t>
            </a:r>
          </a:p>
        </p:txBody>
      </p:sp>
      <p:sp>
        <p:nvSpPr>
          <p:cNvPr id="16" name="TextBox 15"/>
          <p:cNvSpPr txBox="1"/>
          <p:nvPr/>
        </p:nvSpPr>
        <p:spPr>
          <a:xfrm>
            <a:off x="2651760" y="4645152"/>
            <a:ext cx="8686800" cy="822960"/>
          </a:xfrm>
          <a:prstGeom prst="rect">
            <a:avLst/>
          </a:prstGeom>
          <a:noFill/>
        </p:spPr>
        <p:txBody>
          <a:bodyPr wrap="square" anchor="t">
            <a:spAutoFit/>
          </a:bodyPr>
          <a:lstStyle/>
          <a:p>
            <a:pPr algn="l">
              <a:spcAft>
                <a:spcPts val="100"/>
              </a:spcAft>
            </a:pPr>
            <a:r>
              <a:rPr sz="1450" b="1" i="0">
                <a:solidFill>
                  <a:srgbClr val="131A24"/>
                </a:solidFill>
                <a:latin typeface="Calibri"/>
              </a:rPr>
              <a:t>Close the loop</a:t>
            </a:r>
          </a:p>
          <a:p>
            <a:pPr algn="l"/>
            <a:r>
              <a:rPr sz="1200" b="0" i="0">
                <a:solidFill>
                  <a:srgbClr val="5B6473"/>
                </a:solidFill>
                <a:latin typeface="Calibri"/>
              </a:rPr>
              <a:t>One direct question, the last call, and (for associations) the partnership door.</a:t>
            </a:r>
          </a:p>
        </p:txBody>
      </p:sp>
      <p:sp>
        <p:nvSpPr>
          <p:cNvPr id="17" name="TextBox 16"/>
          <p:cNvSpPr txBox="1"/>
          <p:nvPr/>
        </p:nvSpPr>
        <p:spPr>
          <a:xfrm>
            <a:off x="822960" y="5605272"/>
            <a:ext cx="10515600" cy="731520"/>
          </a:xfrm>
          <a:prstGeom prst="rect">
            <a:avLst/>
          </a:prstGeom>
          <a:noFill/>
        </p:spPr>
        <p:txBody>
          <a:bodyPr wrap="square" anchor="t">
            <a:spAutoFit/>
          </a:bodyPr>
          <a:lstStyle/>
          <a:p>
            <a:pPr algn="l"/>
            <a:r>
              <a:rPr sz="1200" b="0" i="0">
                <a:solidFill>
                  <a:srgbClr val="5B6473"/>
                </a:solidFill>
                <a:latin typeface="Calibri"/>
              </a:rPr>
              <a:t>Sends Tuesday to Thursday, 7:30 to 9:00am in the recipient's state. Sender: Lyall Mercer. Every link tracked per audience and email. Replies answered personally: that is where cold email converts.</a:t>
            </a:r>
          </a:p>
        </p:txBody>
      </p:sp>
      <p:sp>
        <p:nvSpPr>
          <p:cNvPr id="18" name="TextBox 1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651760"/>
            <a:ext cx="10515600" cy="1645920"/>
          </a:xfrm>
          <a:prstGeom prst="rect">
            <a:avLst/>
          </a:prstGeom>
          <a:noFill/>
        </p:spPr>
        <p:txBody>
          <a:bodyPr wrap="square" anchor="t">
            <a:spAutoFit/>
          </a:bodyPr>
          <a:lstStyle/>
          <a:p>
            <a:pPr algn="l">
              <a:spcAft>
                <a:spcPts val="600"/>
              </a:spcAft>
            </a:pPr>
            <a:r>
              <a:rPr sz="3400" b="1" i="0">
                <a:solidFill>
                  <a:srgbClr val="FFFFFF"/>
                </a:solidFill>
                <a:latin typeface="Calibri"/>
              </a:rPr>
              <a:t>Sequence A: Schools</a:t>
            </a:r>
          </a:p>
          <a:p>
            <a:pPr algn="l"/>
            <a:r>
              <a:rPr sz="1600" b="0" i="0">
                <a:solidFill>
                  <a:srgbClr val="9AA8BE"/>
                </a:solidFill>
                <a:latin typeface="Calibri"/>
              </a:rPr>
              <a:t>Four emails to principals. Sender: Lyall Mercer. Full copy for your review.</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9AA8BE"/>
                </a:solidFill>
                <a:latin typeface="Calibri"/>
              </a:rPr>
              <a:t>3P Digital  x  My PR Partner   |   Crisis Masterclass EDM campaign   |   July 2026</a:t>
            </a:r>
            <a:r>
              <a:rPr sz="900" b="1" i="0">
                <a:solidFill>
                  <a:srgbClr val="9AA8BE"/>
                </a:solidFill>
                <a:latin typeface="Calibri"/>
              </a:rPr>
              <a:t>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SCHOOLS SEQUENCE  |  EMAIL 1 OF 4</a:t>
            </a:r>
          </a:p>
          <a:p>
            <a:pPr algn="l">
              <a:spcAft>
                <a:spcPts val="100"/>
              </a:spcAft>
            </a:pPr>
            <a:r>
              <a:rPr sz="1500" b="0" i="0">
                <a:solidFill>
                  <a:srgbClr val="5B6473"/>
                </a:solidFill>
                <a:latin typeface="Calibri"/>
              </a:rPr>
              <a:t>Subject:  </a:t>
            </a:r>
            <a:r>
              <a:rPr sz="1500" b="1" i="0">
                <a:solidFill>
                  <a:srgbClr val="131A24"/>
                </a:solidFill>
                <a:latin typeface="Calibri"/>
              </a:rPr>
              <a:t>The other emergency plan, {{school_name}}</a:t>
            </a:r>
          </a:p>
          <a:p>
            <a:pPr algn="l"/>
            <a:r>
              <a:rPr sz="1150" b="0" i="0">
                <a:solidFill>
                  <a:srgbClr val="5B6473"/>
                </a:solidFill>
                <a:latin typeface="Calibri"/>
              </a:rPr>
              <a:t>Preview:  </a:t>
            </a:r>
            <a:r>
              <a:rPr sz="1150" b="0" i="0">
                <a:solidFill>
                  <a:srgbClr val="07AFBB"/>
                </a:solidFill>
                <a:latin typeface="Calibri"/>
              </a:rPr>
              <a:t>A 10-minute self-check most schools have never run.</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Every school has an evacuation plan. Very few have a plan for the other kind of emergency: the parent Facebook group boiling over, an AI deepfake of a student, a reporter calling the office at 4pm on a Friday.</a:t>
            </a:r>
          </a:p>
          <a:p>
            <a:pPr algn="l">
              <a:spcAft>
                <a:spcPts val="500"/>
              </a:spcAft>
            </a:pPr>
            <a:r>
              <a:rPr sz="1150" b="0" i="0">
                <a:solidFill>
                  <a:srgbClr val="131A24"/>
                </a:solidFill>
                <a:latin typeface="Calibri"/>
              </a:rPr>
              <a:t>The ACU Principal Wellbeing Survey found 87.6% of principals now experience cyberbullying from parents or caregivers. The pile-on is no longer a rare event. It is a term-three certainty somewhere in Australia.</a:t>
            </a:r>
          </a:p>
          <a:p>
            <a:pPr algn="l">
              <a:spcAft>
                <a:spcPts val="500"/>
              </a:spcAft>
            </a:pPr>
            <a:r>
              <a:rPr sz="1150" b="0" i="0">
                <a:solidFill>
                  <a:srgbClr val="131A24"/>
                </a:solidFill>
                <a:latin typeface="Calibri"/>
              </a:rPr>
              <a:t>I have spent 25+ years in crisis PR, and my team has built a free Crisis Vulnerability Checklist: a 10-minute self-assessment across the areas where schools most often get caught out. No sign-up hoops, it is a direct download:</a:t>
            </a:r>
          </a:p>
          <a:p>
            <a:pPr algn="l">
              <a:spcAft>
                <a:spcPts val="500"/>
              </a:spcAft>
            </a:pPr>
            <a:r>
              <a:rPr sz="1150" b="1" i="0">
                <a:solidFill>
                  <a:srgbClr val="1A2B4A"/>
                </a:solidFill>
                <a:latin typeface="Calibri"/>
              </a:rPr>
              <a:t>[Download the Crisis Vulnerability Checklist]</a:t>
            </a:r>
          </a:p>
          <a:p>
            <a:pPr algn="l">
              <a:spcAft>
                <a:spcPts val="500"/>
              </a:spcAft>
            </a:pPr>
            <a:r>
              <a:rPr sz="1150" b="0" i="0">
                <a:solidFill>
                  <a:srgbClr val="131A24"/>
                </a:solidFill>
                <a:latin typeface="Calibri"/>
              </a:rPr>
              <a:t>Run it with your leadership team this week. If it surfaces gaps, I will show you how other school leaders are closing them in my next note.</a:t>
            </a:r>
          </a:p>
          <a:p>
            <a:pPr algn="l">
              <a:spcAft>
                <a:spcPts val="500"/>
              </a:spcAft>
            </a:pPr>
            <a:r>
              <a:rPr sz="1150" b="0" i="0">
                <a:solidFill>
                  <a:srgbClr val="131A24"/>
                </a:solidFill>
                <a:latin typeface="Calibri"/>
              </a:rPr>
              <a:t>Lyall Mercer
Co-founder, My PR Partner  |  Lead Strategist, CRC Public Relations</a:t>
            </a:r>
          </a:p>
        </p:txBody>
      </p:sp>
      <p:sp>
        <p:nvSpPr>
          <p:cNvPr id="7" name="TextBox 6"/>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SCHOOLS SEQUENCE  |  EMAIL 2 OF 4</a:t>
            </a:r>
          </a:p>
          <a:p>
            <a:pPr algn="l">
              <a:spcAft>
                <a:spcPts val="100"/>
              </a:spcAft>
            </a:pPr>
            <a:r>
              <a:rPr sz="1500" b="0" i="0">
                <a:solidFill>
                  <a:srgbClr val="5B6473"/>
                </a:solidFill>
                <a:latin typeface="Calibri"/>
              </a:rPr>
              <a:t>Subject:  </a:t>
            </a:r>
            <a:r>
              <a:rPr sz="1500" b="1" i="0">
                <a:solidFill>
                  <a:srgbClr val="131A24"/>
                </a:solidFill>
                <a:latin typeface="Calibri"/>
              </a:rPr>
              <a:t>The first 24 hours decide it</a:t>
            </a:r>
          </a:p>
          <a:p>
            <a:pPr algn="l"/>
            <a:r>
              <a:rPr sz="1150" b="0" i="0">
                <a:solidFill>
                  <a:srgbClr val="5B6473"/>
                </a:solidFill>
                <a:latin typeface="Calibri"/>
              </a:rPr>
              <a:t>Preview:  </a:t>
            </a:r>
            <a:r>
              <a:rPr sz="1150" b="0" i="0">
                <a:solidFill>
                  <a:srgbClr val="07AFBB"/>
                </a:solidFill>
                <a:latin typeface="Calibri"/>
              </a:rPr>
              <a:t>What separates a bad week from a resignation.</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When a school crisis becomes national news, the difference between a bad week and a career-ending story is almost always the first 24 hours of communication. Not the incident itself. The response.</a:t>
            </a:r>
          </a:p>
          <a:p>
            <a:pPr algn="l">
              <a:spcAft>
                <a:spcPts val="500"/>
              </a:spcAft>
            </a:pPr>
            <a:r>
              <a:rPr sz="1150" b="0" i="0">
                <a:solidFill>
                  <a:srgbClr val="131A24"/>
                </a:solidFill>
                <a:latin typeface="Calibri"/>
              </a:rPr>
              <a:t>Here is what the research says, and it surprises most leaders: you cannot beat emotion with logic. When a school community is angry or frightened, facts and legal-approved statements do not land. Validation first, information second. There is a formula for this, and it is teachable.</a:t>
            </a:r>
          </a:p>
          <a:p>
            <a:pPr algn="l">
              <a:spcAft>
                <a:spcPts val="500"/>
              </a:spcAft>
            </a:pPr>
            <a:r>
              <a:rPr sz="1150" b="0" i="0">
                <a:solidFill>
                  <a:srgbClr val="131A24"/>
                </a:solidFill>
                <a:latin typeface="Calibri"/>
              </a:rPr>
              <a:t>That formula is one module of the Crisis Masterclass, the 12-month online program we built with Melissa Agnes of the Crisis Ready Institute (USA), exclusive to My PR Partner in Australasia. One session a month, self-paced, with a certificate your board can file as evidence of reputational risk management.</a:t>
            </a:r>
          </a:p>
          <a:p>
            <a:pPr algn="l">
              <a:spcAft>
                <a:spcPts val="500"/>
              </a:spcAft>
            </a:pPr>
            <a:r>
              <a:rPr sz="1150" b="0" i="0">
                <a:solidFill>
                  <a:srgbClr val="131A24"/>
                </a:solidFill>
                <a:latin typeface="Calibri"/>
              </a:rPr>
              <a:t>Here is exactly what the 12 months cover:</a:t>
            </a:r>
          </a:p>
          <a:p>
            <a:pPr algn="l">
              <a:spcAft>
                <a:spcPts val="500"/>
              </a:spcAft>
            </a:pPr>
            <a:r>
              <a:rPr sz="1150" b="1" i="0">
                <a:solidFill>
                  <a:srgbClr val="1A2B4A"/>
                </a:solidFill>
                <a:latin typeface="Calibri"/>
              </a:rPr>
              <a:t>[Download the course outline]</a:t>
            </a:r>
          </a:p>
          <a:p>
            <a:pPr algn="l">
              <a:spcAft>
                <a:spcPts val="500"/>
              </a:spcAft>
            </a:pPr>
            <a:r>
              <a:rPr sz="1150" b="0" i="0">
                <a:solidFill>
                  <a:srgbClr val="131A24"/>
                </a:solidFill>
                <a:latin typeface="Calibri"/>
              </a:rPr>
              <a:t>Lyall</a:t>
            </a:r>
          </a:p>
        </p:txBody>
      </p:sp>
      <p:sp>
        <p:nvSpPr>
          <p:cNvPr id="7" name="TextBox 6"/>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SCHOOLS SEQUENCE  |  EMAIL 3 OF 4</a:t>
            </a:r>
          </a:p>
          <a:p>
            <a:pPr algn="l">
              <a:spcAft>
                <a:spcPts val="100"/>
              </a:spcAft>
            </a:pPr>
            <a:r>
              <a:rPr sz="1500" b="0" i="0">
                <a:solidFill>
                  <a:srgbClr val="5B6473"/>
                </a:solidFill>
                <a:latin typeface="Calibri"/>
              </a:rPr>
              <a:t>Subject:  </a:t>
            </a:r>
            <a:r>
              <a:rPr sz="1500" b="1" i="0">
                <a:solidFill>
                  <a:srgbClr val="131A24"/>
                </a:solidFill>
                <a:latin typeface="Calibri"/>
              </a:rPr>
              <a:t>$340 a month, before. $10k a day, after.</a:t>
            </a:r>
          </a:p>
          <a:p>
            <a:pPr algn="l"/>
            <a:r>
              <a:rPr sz="1150" b="0" i="0">
                <a:solidFill>
                  <a:srgbClr val="5B6473"/>
                </a:solidFill>
                <a:latin typeface="Calibri"/>
              </a:rPr>
              <a:t>Preview:  </a:t>
            </a:r>
            <a:r>
              <a:rPr sz="1150" b="0" i="0">
                <a:solidFill>
                  <a:srgbClr val="07AFBB"/>
                </a:solidFill>
                <a:latin typeface="Calibri"/>
              </a:rPr>
              <a:t>What crisis help costs on either side of the incident.</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A quick note on numbers, because school budgets are real.</a:t>
            </a:r>
          </a:p>
          <a:p>
            <a:pPr algn="l">
              <a:spcAft>
                <a:spcPts val="500"/>
              </a:spcAft>
            </a:pPr>
            <a:r>
              <a:rPr sz="1150" b="0" i="0">
                <a:solidFill>
                  <a:srgbClr val="131A24"/>
                </a:solidFill>
                <a:latin typeface="Calibri"/>
              </a:rPr>
              <a:t>When a crisis hits, external consultants cost thousands per day, and they arrive after the damage is done. A single external training day runs $7,000 to $15,000. The Crisis Masterclass is $340 a month (ex GST): a full year of structured training for your leadership team for less than one workshop day.</a:t>
            </a:r>
          </a:p>
          <a:p>
            <a:pPr algn="l">
              <a:spcAft>
                <a:spcPts val="500"/>
              </a:spcAft>
            </a:pPr>
            <a:r>
              <a:rPr sz="1150" b="0" i="0">
                <a:solidFill>
                  <a:srgbClr val="131A24"/>
                </a:solidFill>
                <a:latin typeface="Calibri"/>
              </a:rPr>
              <a:t>What you get: 12 monthly sessions with Melissa Agnes (Crisis Ready Institute) and Australian case studies from our CRC Public Relations team, fortnightly Spotlight emails, monthly live Q&amp;A, and a certificate of completion.</a:t>
            </a:r>
          </a:p>
          <a:p>
            <a:pPr algn="l">
              <a:spcAft>
                <a:spcPts val="500"/>
              </a:spcAft>
            </a:pPr>
            <a:r>
              <a:rPr sz="1150" b="0" i="0">
                <a:solidFill>
                  <a:srgbClr val="131A24"/>
                </a:solidFill>
                <a:latin typeface="Calibri"/>
              </a:rPr>
              <a:t>Term 3 is when the savvier schools we work with do this: trained before the summer silly season, and in time to put the annual plan into the 2027 budget round.</a:t>
            </a:r>
          </a:p>
          <a:p>
            <a:pPr algn="l">
              <a:spcAft>
                <a:spcPts val="500"/>
              </a:spcAft>
            </a:pPr>
            <a:r>
              <a:rPr sz="1150" b="1" i="0">
                <a:solidFill>
                  <a:srgbClr val="1A2B4A"/>
                </a:solidFill>
                <a:latin typeface="Calibri"/>
              </a:rPr>
              <a:t>[See the Crisis Masterclass and enrol]</a:t>
            </a:r>
          </a:p>
          <a:p>
            <a:pPr algn="l">
              <a:spcAft>
                <a:spcPts val="500"/>
              </a:spcAft>
            </a:pPr>
            <a:r>
              <a:rPr sz="1150" b="0" i="0">
                <a:solidFill>
                  <a:srgbClr val="131A24"/>
                </a:solidFill>
                <a:latin typeface="Calibri"/>
              </a:rPr>
              <a:t>If you would rather talk it through first, reply to this email and I will come back to you personally.</a:t>
            </a:r>
          </a:p>
          <a:p>
            <a:pPr algn="l">
              <a:spcAft>
                <a:spcPts val="500"/>
              </a:spcAft>
            </a:pPr>
            <a:r>
              <a:rPr sz="1150" b="0" i="0">
                <a:solidFill>
                  <a:srgbClr val="131A24"/>
                </a:solidFill>
                <a:latin typeface="Calibri"/>
              </a:rPr>
              <a:t>Lyall</a:t>
            </a:r>
          </a:p>
        </p:txBody>
      </p:sp>
      <p:sp>
        <p:nvSpPr>
          <p:cNvPr id="7" name="TextBox 6"/>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SCHOOLS SEQUENCE  |  EMAIL 4 OF 4</a:t>
            </a:r>
          </a:p>
          <a:p>
            <a:pPr algn="l">
              <a:spcAft>
                <a:spcPts val="100"/>
              </a:spcAft>
            </a:pPr>
            <a:r>
              <a:rPr sz="1500" b="0" i="0">
                <a:solidFill>
                  <a:srgbClr val="5B6473"/>
                </a:solidFill>
                <a:latin typeface="Calibri"/>
              </a:rPr>
              <a:t>Subject:  </a:t>
            </a:r>
            <a:r>
              <a:rPr sz="1500" b="1" i="0">
                <a:solidFill>
                  <a:srgbClr val="131A24"/>
                </a:solidFill>
                <a:latin typeface="Calibri"/>
              </a:rPr>
              <a:t>Before I close the file, {{first_name}}</a:t>
            </a:r>
          </a:p>
          <a:p>
            <a:pPr algn="l"/>
            <a:r>
              <a:rPr sz="1150" b="0" i="0">
                <a:solidFill>
                  <a:srgbClr val="5B6473"/>
                </a:solidFill>
                <a:latin typeface="Calibri"/>
              </a:rPr>
              <a:t>Preview:  </a:t>
            </a:r>
            <a:r>
              <a:rPr sz="1150" b="0" i="0">
                <a:solidFill>
                  <a:srgbClr val="07AFBB"/>
                </a:solidFill>
                <a:latin typeface="Calibri"/>
              </a:rPr>
              <a:t>One question, then I will leave you be.</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I will keep this short and then stop filling your inbox.</a:t>
            </a:r>
          </a:p>
          <a:p>
            <a:pPr algn="l">
              <a:spcAft>
                <a:spcPts val="500"/>
              </a:spcAft>
            </a:pPr>
            <a:r>
              <a:rPr sz="1150" b="0" i="0">
                <a:solidFill>
                  <a:srgbClr val="131A24"/>
                </a:solidFill>
                <a:latin typeface="Calibri"/>
              </a:rPr>
              <a:t>One question: if tomorrow morning a parent group, a journalist and a lawyer all had your school's name in their mouths, who on your team knows exactly what to say in the first hour?</a:t>
            </a:r>
          </a:p>
          <a:p>
            <a:pPr algn="l">
              <a:spcAft>
                <a:spcPts val="500"/>
              </a:spcAft>
            </a:pPr>
            <a:r>
              <a:rPr sz="1150" b="0" i="0">
                <a:solidFill>
                  <a:srgbClr val="131A24"/>
                </a:solidFill>
                <a:latin typeface="Calibri"/>
              </a:rPr>
              <a:t>If the answer is "we would work it out", that is the gap. It is the same gap nearly every principal tells us they have, and it is fixable for $340 a month.</a:t>
            </a:r>
          </a:p>
          <a:p>
            <a:pPr algn="l">
              <a:spcAft>
                <a:spcPts val="500"/>
              </a:spcAft>
            </a:pPr>
            <a:r>
              <a:rPr sz="1150" b="1" i="0">
                <a:solidFill>
                  <a:srgbClr val="1A2B4A"/>
                </a:solidFill>
                <a:latin typeface="Calibri"/>
              </a:rPr>
              <a:t>[Enrol in the Crisis Masterclass]  or  [See the Schools Program]</a:t>
            </a:r>
          </a:p>
          <a:p>
            <a:pPr algn="l">
              <a:spcAft>
                <a:spcPts val="500"/>
              </a:spcAft>
            </a:pPr>
            <a:r>
              <a:rPr sz="1150" b="0" i="0">
                <a:solidFill>
                  <a:srgbClr val="131A24"/>
                </a:solidFill>
                <a:latin typeface="Calibri"/>
              </a:rPr>
              <a:t>The Schools Program (from $440/month) is the better fit if you want school-specific training for your whole leadership team, including media strategies and handling the hardest allegations.</a:t>
            </a:r>
          </a:p>
          <a:p>
            <a:pPr algn="l">
              <a:spcAft>
                <a:spcPts val="500"/>
              </a:spcAft>
            </a:pPr>
            <a:r>
              <a:rPr sz="1150" b="0" i="0">
                <a:solidFill>
                  <a:srgbClr val="131A24"/>
                </a:solidFill>
                <a:latin typeface="Calibri"/>
              </a:rPr>
              <a:t>Either way, keep the checklist, and my door stays open. Reply any time.</a:t>
            </a:r>
          </a:p>
          <a:p>
            <a:pPr algn="l">
              <a:spcAft>
                <a:spcPts val="500"/>
              </a:spcAft>
            </a:pPr>
            <a:r>
              <a:rPr sz="1150" b="0" i="0">
                <a:solidFill>
                  <a:srgbClr val="131A24"/>
                </a:solidFill>
                <a:latin typeface="Calibri"/>
              </a:rPr>
              <a:t>Lyall</a:t>
            </a:r>
          </a:p>
        </p:txBody>
      </p:sp>
      <p:sp>
        <p:nvSpPr>
          <p:cNvPr id="7" name="TextBox 6"/>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651760"/>
            <a:ext cx="10515600" cy="1645920"/>
          </a:xfrm>
          <a:prstGeom prst="rect">
            <a:avLst/>
          </a:prstGeom>
          <a:noFill/>
        </p:spPr>
        <p:txBody>
          <a:bodyPr wrap="square" anchor="t">
            <a:spAutoFit/>
          </a:bodyPr>
          <a:lstStyle/>
          <a:p>
            <a:pPr algn="l">
              <a:spcAft>
                <a:spcPts val="600"/>
              </a:spcAft>
            </a:pPr>
            <a:r>
              <a:rPr sz="3400" b="1" i="0">
                <a:solidFill>
                  <a:srgbClr val="FFFFFF"/>
                </a:solidFill>
                <a:latin typeface="Calibri"/>
              </a:rPr>
              <a:t>Sequence B: Associations and councils</a:t>
            </a:r>
          </a:p>
          <a:p>
            <a:pPr algn="l"/>
            <a:r>
              <a:rPr sz="1600" b="0" i="0">
                <a:solidFill>
                  <a:srgbClr val="9AA8BE"/>
                </a:solidFill>
                <a:latin typeface="Calibri"/>
              </a:rPr>
              <a:t>Four emails to CEOs and GMs. Council variants noted under each email.</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9AA8BE"/>
                </a:solidFill>
                <a:latin typeface="Calibri"/>
              </a:rPr>
              <a:t>3P Digital  x  My PR Partner   |   Crisis Masterclass EDM campaign   |   July 2026</a:t>
            </a:r>
            <a:r>
              <a:rPr sz="900" b="1" i="0">
                <a:solidFill>
                  <a:srgbClr val="9AA8BE"/>
                </a:solidFill>
                <a:latin typeface="Calibri"/>
              </a:rPr>
              <a:t>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ASSOCIATIONS SEQUENCE  |  EMAIL 1 OF 4</a:t>
            </a:r>
          </a:p>
          <a:p>
            <a:pPr algn="l">
              <a:spcAft>
                <a:spcPts val="100"/>
              </a:spcAft>
            </a:pPr>
            <a:r>
              <a:rPr sz="1500" b="0" i="0">
                <a:solidFill>
                  <a:srgbClr val="5B6473"/>
                </a:solidFill>
                <a:latin typeface="Calibri"/>
              </a:rPr>
              <a:t>Subject:  </a:t>
            </a:r>
            <a:r>
              <a:rPr sz="1500" b="1" i="0">
                <a:solidFill>
                  <a:srgbClr val="131A24"/>
                </a:solidFill>
                <a:latin typeface="Calibri"/>
              </a:rPr>
              <a:t>When your sector makes the news, {{org_name}} is the voice</a:t>
            </a:r>
          </a:p>
          <a:p>
            <a:pPr algn="l"/>
            <a:r>
              <a:rPr sz="1150" b="0" i="0">
                <a:solidFill>
                  <a:srgbClr val="5B6473"/>
                </a:solidFill>
                <a:latin typeface="Calibri"/>
              </a:rPr>
              <a:t>Preview:  </a:t>
            </a:r>
            <a:r>
              <a:rPr sz="1150" b="0" i="0">
                <a:solidFill>
                  <a:srgbClr val="07AFBB"/>
                </a:solidFill>
                <a:latin typeface="Calibri"/>
              </a:rPr>
              <a:t>The evidence on what actually works in a crisis.</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Here is the uncomfortable part of running an association: you carry the reputation of every member. One member's scandal becomes the sector's headline, and the journalists do not call the member. They call you.</a:t>
            </a:r>
          </a:p>
          <a:p>
            <a:pPr algn="l">
              <a:spcAft>
                <a:spcPts val="500"/>
              </a:spcAft>
            </a:pPr>
            <a:r>
              <a:rPr sz="1150" b="0" i="0">
                <a:solidFill>
                  <a:srgbClr val="131A24"/>
                </a:solidFill>
                <a:latin typeface="Calibri"/>
              </a:rPr>
              <a:t>We have just published a research paper that most comms advisers have not caught up with yet: the peer-reviewed evidence on emotion-led crisis management. It covers why validation beats legal-speak, why markets punished insincere apologies for three months, and why Jacinda Ardern's crisis approval hit 80% while G7 leaders averaged 48%.</a:t>
            </a:r>
          </a:p>
          <a:p>
            <a:pPr algn="l">
              <a:spcAft>
                <a:spcPts val="500"/>
              </a:spcAft>
            </a:pPr>
            <a:r>
              <a:rPr sz="1150" b="1" i="0">
                <a:solidFill>
                  <a:srgbClr val="1A2B4A"/>
                </a:solidFill>
                <a:latin typeface="Calibri"/>
              </a:rPr>
              <a:t>[Download: The Evidence Behind Emotion-Led Crisis Management]</a:t>
            </a:r>
          </a:p>
          <a:p>
            <a:pPr algn="l">
              <a:spcAft>
                <a:spcPts val="500"/>
              </a:spcAft>
            </a:pPr>
            <a:r>
              <a:rPr sz="1150" b="0" i="0">
                <a:solidFill>
                  <a:srgbClr val="131A24"/>
                </a:solidFill>
                <a:latin typeface="Calibri"/>
              </a:rPr>
              <a:t>It is a 10-minute read and it will change how you brief your board on reputational risk.</a:t>
            </a:r>
          </a:p>
          <a:p>
            <a:pPr algn="l">
              <a:spcAft>
                <a:spcPts val="500"/>
              </a:spcAft>
            </a:pPr>
            <a:r>
              <a:rPr sz="1150" b="0" i="0">
                <a:solidFill>
                  <a:srgbClr val="131A24"/>
                </a:solidFill>
                <a:latin typeface="Calibri"/>
              </a:rPr>
              <a:t>Lyall Mercer
Co-founder, My PR Partner  |  Lead Strategist, CRC Public Relations</a:t>
            </a:r>
          </a:p>
        </p:txBody>
      </p:sp>
      <p:sp>
        <p:nvSpPr>
          <p:cNvPr id="7" name="TextBox 6"/>
          <p:cNvSpPr txBox="1"/>
          <p:nvPr/>
        </p:nvSpPr>
        <p:spPr>
          <a:xfrm>
            <a:off x="1097280" y="5742432"/>
            <a:ext cx="9966960" cy="594360"/>
          </a:xfrm>
          <a:prstGeom prst="rect">
            <a:avLst/>
          </a:prstGeom>
          <a:noFill/>
        </p:spPr>
        <p:txBody>
          <a:bodyPr wrap="square" anchor="t">
            <a:spAutoFit/>
          </a:bodyPr>
          <a:lstStyle/>
          <a:p>
            <a:pPr algn="l"/>
            <a:r>
              <a:rPr sz="1000" b="1" i="0">
                <a:solidFill>
                  <a:srgbClr val="FF6B38"/>
                </a:solidFill>
                <a:latin typeface="Calibri"/>
              </a:rPr>
              <a:t>Council variant:  </a:t>
            </a:r>
            <a:r>
              <a:rPr sz="1000" b="0" i="0">
                <a:solidFill>
                  <a:srgbClr val="5B6473"/>
                </a:solidFill>
                <a:latin typeface="Calibri"/>
              </a:rPr>
              <a:t>Subject becomes "The next pile-on won't wait for a comms hire". Opening cites the MAV/ANU report on rising disinformation and harassment aimed at councils, with the CEO or GM as de facto spokesperson.</a:t>
            </a:r>
          </a:p>
        </p:txBody>
      </p:sp>
      <p:sp>
        <p:nvSpPr>
          <p:cNvPr id="8" name="TextBox 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ASSOCIATIONS SEQUENCE  |  EMAIL 2 OF 4</a:t>
            </a:r>
          </a:p>
          <a:p>
            <a:pPr algn="l">
              <a:spcAft>
                <a:spcPts val="100"/>
              </a:spcAft>
            </a:pPr>
            <a:r>
              <a:rPr sz="1500" b="0" i="0">
                <a:solidFill>
                  <a:srgbClr val="5B6473"/>
                </a:solidFill>
                <a:latin typeface="Calibri"/>
              </a:rPr>
              <a:t>Subject:  </a:t>
            </a:r>
            <a:r>
              <a:rPr sz="1500" b="1" i="0">
                <a:solidFill>
                  <a:srgbClr val="131A24"/>
                </a:solidFill>
                <a:latin typeface="Calibri"/>
              </a:rPr>
              <a:t>A comms team of one</a:t>
            </a:r>
          </a:p>
          <a:p>
            <a:pPr algn="l"/>
            <a:r>
              <a:rPr sz="1150" b="0" i="0">
                <a:solidFill>
                  <a:srgbClr val="5B6473"/>
                </a:solidFill>
                <a:latin typeface="Calibri"/>
              </a:rPr>
              <a:t>Preview:  </a:t>
            </a:r>
            <a:r>
              <a:rPr sz="1150" b="0" i="0">
                <a:solidFill>
                  <a:srgbClr val="07AFBB"/>
                </a:solidFill>
                <a:latin typeface="Calibri"/>
              </a:rPr>
              <a:t>Most association CEOs are the crisis plan.</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Most associations run a comms team of one. Sometimes none, and then the CEO is the plan.</a:t>
            </a:r>
          </a:p>
          <a:p>
            <a:pPr algn="l">
              <a:spcAft>
                <a:spcPts val="500"/>
              </a:spcAft>
            </a:pPr>
            <a:r>
              <a:rPr sz="1150" b="0" i="0">
                <a:solidFill>
                  <a:srgbClr val="131A24"/>
                </a:solidFill>
                <a:latin typeface="Calibri"/>
              </a:rPr>
              <a:t>That works until the day it does not: a member scandal, an advocacy position that backfires, a sector-wide incident. On that day the difference is not budget, it is preparation.</a:t>
            </a:r>
          </a:p>
          <a:p>
            <a:pPr algn="l">
              <a:spcAft>
                <a:spcPts val="500"/>
              </a:spcAft>
            </a:pPr>
            <a:r>
              <a:rPr sz="1150" b="0" i="0">
                <a:solidFill>
                  <a:srgbClr val="131A24"/>
                </a:solidFill>
                <a:latin typeface="Calibri"/>
              </a:rPr>
              <a:t>The Crisis Masterclass is the 12-month online program we built with Melissa Agnes, CEO of the Crisis Ready Institute (USA) and one of the world's leading crisis communication authorities. It is exclusive to My PR Partner in Australasia. Monthly sessions, self-paced, live Q&amp;A, certificate of completion endorsed by CRC Public Relations.</a:t>
            </a:r>
          </a:p>
          <a:p>
            <a:pPr algn="l">
              <a:spcAft>
                <a:spcPts val="500"/>
              </a:spcAft>
            </a:pPr>
            <a:r>
              <a:rPr sz="1150" b="0" i="0">
                <a:solidFill>
                  <a:srgbClr val="131A24"/>
                </a:solidFill>
                <a:latin typeface="Calibri"/>
              </a:rPr>
              <a:t>It exists precisely for leaders who are the spokesperson whether they chose it or not.</a:t>
            </a:r>
          </a:p>
          <a:p>
            <a:pPr algn="l">
              <a:spcAft>
                <a:spcPts val="500"/>
              </a:spcAft>
            </a:pPr>
            <a:r>
              <a:rPr sz="1150" b="1" i="0">
                <a:solidFill>
                  <a:srgbClr val="1A2B4A"/>
                </a:solidFill>
                <a:latin typeface="Calibri"/>
              </a:rPr>
              <a:t>[See the full course outline]</a:t>
            </a:r>
          </a:p>
          <a:p>
            <a:pPr algn="l">
              <a:spcAft>
                <a:spcPts val="500"/>
              </a:spcAft>
            </a:pPr>
            <a:r>
              <a:rPr sz="1150" b="0" i="0">
                <a:solidFill>
                  <a:srgbClr val="131A24"/>
                </a:solidFill>
                <a:latin typeface="Calibri"/>
              </a:rPr>
              <a:t>Lyall</a:t>
            </a:r>
          </a:p>
        </p:txBody>
      </p:sp>
      <p:sp>
        <p:nvSpPr>
          <p:cNvPr id="7" name="TextBox 6"/>
          <p:cNvSpPr txBox="1"/>
          <p:nvPr/>
        </p:nvSpPr>
        <p:spPr>
          <a:xfrm>
            <a:off x="1097280" y="5742432"/>
            <a:ext cx="9966960" cy="594360"/>
          </a:xfrm>
          <a:prstGeom prst="rect">
            <a:avLst/>
          </a:prstGeom>
          <a:noFill/>
        </p:spPr>
        <p:txBody>
          <a:bodyPr wrap="square" anchor="t">
            <a:spAutoFit/>
          </a:bodyPr>
          <a:lstStyle/>
          <a:p>
            <a:pPr algn="l"/>
            <a:r>
              <a:rPr sz="1000" b="1" i="0">
                <a:solidFill>
                  <a:srgbClr val="FF6B38"/>
                </a:solidFill>
                <a:latin typeface="Calibri"/>
              </a:rPr>
              <a:t>Council variant:  </a:t>
            </a:r>
            <a:r>
              <a:rPr sz="1000" b="0" i="0">
                <a:solidFill>
                  <a:srgbClr val="5B6473"/>
                </a:solidFill>
                <a:latin typeface="Calibri"/>
              </a:rPr>
              <a:t>"Most associations" becomes "most councils outside the capitals", and the incident list becomes: a flood, a censure motion, a social media pile-on.</a:t>
            </a:r>
          </a:p>
        </p:txBody>
      </p:sp>
      <p:sp>
        <p:nvSpPr>
          <p:cNvPr id="8" name="TextBox 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ASSOCIATIONS SEQUENCE  |  EMAIL 3 OF 4</a:t>
            </a:r>
          </a:p>
          <a:p>
            <a:pPr algn="l">
              <a:spcAft>
                <a:spcPts val="100"/>
              </a:spcAft>
            </a:pPr>
            <a:r>
              <a:rPr sz="1500" b="0" i="0">
                <a:solidFill>
                  <a:srgbClr val="5B6473"/>
                </a:solidFill>
                <a:latin typeface="Calibri"/>
              </a:rPr>
              <a:t>Subject:  </a:t>
            </a:r>
            <a:r>
              <a:rPr sz="1500" b="1" i="0">
                <a:solidFill>
                  <a:srgbClr val="131A24"/>
                </a:solidFill>
                <a:latin typeface="Calibri"/>
              </a:rPr>
              <a:t>One workshop day, or a whole year</a:t>
            </a:r>
          </a:p>
          <a:p>
            <a:pPr algn="l"/>
            <a:r>
              <a:rPr sz="1150" b="0" i="0">
                <a:solidFill>
                  <a:srgbClr val="5B6473"/>
                </a:solidFill>
                <a:latin typeface="Calibri"/>
              </a:rPr>
              <a:t>Preview:  </a:t>
            </a:r>
            <a:r>
              <a:rPr sz="1150" b="0" i="0">
                <a:solidFill>
                  <a:srgbClr val="07AFBB"/>
                </a:solidFill>
                <a:latin typeface="Calibri"/>
              </a:rPr>
              <a:t>$340 a month against $1,195 a seat.</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The going rate for crisis communications training in Australia is $1,195 per person for a two-day workshop, or $7,000 to $15,000 for a facilitator day. Then everyone goes back to work and forgets it by Christmas.</a:t>
            </a:r>
          </a:p>
          <a:p>
            <a:pPr algn="l">
              <a:spcAft>
                <a:spcPts val="500"/>
              </a:spcAft>
            </a:pPr>
            <a:r>
              <a:rPr sz="1150" b="0" i="0">
                <a:solidFill>
                  <a:srgbClr val="131A24"/>
                </a:solidFill>
                <a:latin typeface="Calibri"/>
              </a:rPr>
              <a:t>The Crisis Masterclass takes the opposite approach: $340 a month (ex GST) for 12 months of structured, expert-led capability building, with Australian case studies and personal access to the experts through monthly Q&amp;A.</a:t>
            </a:r>
          </a:p>
          <a:p>
            <a:pPr algn="l">
              <a:spcAft>
                <a:spcPts val="500"/>
              </a:spcAft>
            </a:pPr>
            <a:r>
              <a:rPr sz="1150" b="1" i="0">
                <a:solidFill>
                  <a:srgbClr val="1A2B4A"/>
                </a:solidFill>
                <a:latin typeface="Calibri"/>
              </a:rPr>
              <a:t>[Enrol in the Crisis Masterclass]</a:t>
            </a:r>
          </a:p>
          <a:p>
            <a:pPr algn="l">
              <a:spcAft>
                <a:spcPts val="500"/>
              </a:spcAft>
            </a:pPr>
            <a:r>
              <a:rPr sz="1150" b="0" i="0">
                <a:solidFill>
                  <a:srgbClr val="131A24"/>
                </a:solidFill>
                <a:latin typeface="Calibri"/>
              </a:rPr>
              <a:t>Happy to answer anything by reply. I read these personally.</a:t>
            </a:r>
          </a:p>
          <a:p>
            <a:pPr algn="l">
              <a:spcAft>
                <a:spcPts val="500"/>
              </a:spcAft>
            </a:pPr>
            <a:r>
              <a:rPr sz="1150" b="0" i="0">
                <a:solidFill>
                  <a:srgbClr val="131A24"/>
                </a:solidFill>
                <a:latin typeface="Calibri"/>
              </a:rPr>
              <a:t>Lyall</a:t>
            </a:r>
          </a:p>
        </p:txBody>
      </p:sp>
      <p:sp>
        <p:nvSpPr>
          <p:cNvPr id="7" name="TextBox 6"/>
          <p:cNvSpPr txBox="1"/>
          <p:nvPr/>
        </p:nvSpPr>
        <p:spPr>
          <a:xfrm>
            <a:off x="1097280" y="5742432"/>
            <a:ext cx="9966960" cy="594360"/>
          </a:xfrm>
          <a:prstGeom prst="rect">
            <a:avLst/>
          </a:prstGeom>
          <a:noFill/>
        </p:spPr>
        <p:txBody>
          <a:bodyPr wrap="square" anchor="t">
            <a:spAutoFit/>
          </a:bodyPr>
          <a:lstStyle/>
          <a:p>
            <a:pPr algn="l"/>
            <a:r>
              <a:rPr sz="1000" b="1" i="0">
                <a:solidFill>
                  <a:srgbClr val="FF6B38"/>
                </a:solidFill>
                <a:latin typeface="Calibri"/>
              </a:rPr>
              <a:t>Council variant:  </a:t>
            </a:r>
            <a:r>
              <a:rPr sz="1000" b="0" i="0">
                <a:solidFill>
                  <a:srgbClr val="5B6473"/>
                </a:solidFill>
                <a:latin typeface="Calibri"/>
              </a:rPr>
              <a:t>Adds: "At this price the subscription sits within standard manager delegation at almost every council. No tender, no quote round, just a defensible monthly PD line."</a:t>
            </a:r>
          </a:p>
        </p:txBody>
      </p:sp>
      <p:sp>
        <p:nvSpPr>
          <p:cNvPr id="8" name="TextBox 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ASSOCIATIONS SEQUENCE  |  EMAIL 4 OF 4</a:t>
            </a:r>
          </a:p>
          <a:p>
            <a:pPr algn="l">
              <a:spcAft>
                <a:spcPts val="100"/>
              </a:spcAft>
            </a:pPr>
            <a:r>
              <a:rPr sz="1500" b="0" i="0">
                <a:solidFill>
                  <a:srgbClr val="5B6473"/>
                </a:solidFill>
                <a:latin typeface="Calibri"/>
              </a:rPr>
              <a:t>Subject:  </a:t>
            </a:r>
            <a:r>
              <a:rPr sz="1500" b="1" i="0">
                <a:solidFill>
                  <a:srgbClr val="131A24"/>
                </a:solidFill>
                <a:latin typeface="Calibri"/>
              </a:rPr>
              <a:t>Two ways to do this, {{first_name}}</a:t>
            </a:r>
          </a:p>
          <a:p>
            <a:pPr algn="l"/>
            <a:r>
              <a:rPr sz="1150" b="0" i="0">
                <a:solidFill>
                  <a:srgbClr val="5B6473"/>
                </a:solidFill>
                <a:latin typeface="Calibri"/>
              </a:rPr>
              <a:t>Preview:  </a:t>
            </a:r>
            <a:r>
              <a:rPr sz="1150" b="0" i="0">
                <a:solidFill>
                  <a:srgbClr val="07AFBB"/>
                </a:solidFill>
                <a:latin typeface="Calibri"/>
              </a:rPr>
              <a:t>For you, or for your whole membership.</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Last note from me, with two options on the table.</a:t>
            </a:r>
          </a:p>
          <a:p>
            <a:pPr algn="l">
              <a:spcAft>
                <a:spcPts val="500"/>
              </a:spcAft>
            </a:pPr>
            <a:r>
              <a:rPr sz="1150" b="0" i="0">
                <a:solidFill>
                  <a:srgbClr val="131A24"/>
                </a:solidFill>
                <a:latin typeface="Calibri"/>
              </a:rPr>
              <a:t>Option one: enrol yourself or your comms lead in the Crisis Masterclass. $340 a month, start immediately, certificate at the end.</a:t>
            </a:r>
          </a:p>
          <a:p>
            <a:pPr algn="l">
              <a:spcAft>
                <a:spcPts val="500"/>
              </a:spcAft>
            </a:pPr>
            <a:r>
              <a:rPr sz="1150" b="1" i="0">
                <a:solidFill>
                  <a:srgbClr val="1A2B4A"/>
                </a:solidFill>
                <a:latin typeface="Calibri"/>
              </a:rPr>
              <a:t>[Enrol here]</a:t>
            </a:r>
          </a:p>
          <a:p>
            <a:pPr algn="l">
              <a:spcAft>
                <a:spcPts val="500"/>
              </a:spcAft>
            </a:pPr>
            <a:r>
              <a:rPr sz="1150" b="0" i="0">
                <a:solidFill>
                  <a:srgbClr val="131A24"/>
                </a:solidFill>
                <a:latin typeface="Calibri"/>
              </a:rPr>
              <a:t>Option two, and this is the conversation I would genuinely like to have: some associations are looking at the Masterclass as a member benefit. Your members get preferred access to world-class crisis training as part of their membership, your association adds a PD benefit and a non-dues revenue line, and we handle all delivery. If protecting your sector's reputation is on your board's agenda this year, this is a tidy way to lead it.</a:t>
            </a:r>
          </a:p>
          <a:p>
            <a:pPr algn="l">
              <a:spcAft>
                <a:spcPts val="500"/>
              </a:spcAft>
            </a:pPr>
            <a:r>
              <a:rPr sz="1150" b="0" i="0">
                <a:solidFill>
                  <a:srgbClr val="131A24"/>
                </a:solidFill>
                <a:latin typeface="Calibri"/>
              </a:rPr>
              <a:t>If option two is interesting, reply with a good time for a 20-minute call.</a:t>
            </a:r>
          </a:p>
          <a:p>
            <a:pPr algn="l">
              <a:spcAft>
                <a:spcPts val="500"/>
              </a:spcAft>
            </a:pPr>
            <a:r>
              <a:rPr sz="1150" b="0" i="0">
                <a:solidFill>
                  <a:srgbClr val="131A24"/>
                </a:solidFill>
                <a:latin typeface="Calibri"/>
              </a:rPr>
              <a:t>Either way, thanks for reading, and the research paper is yours to keep.</a:t>
            </a:r>
          </a:p>
          <a:p>
            <a:pPr algn="l">
              <a:spcAft>
                <a:spcPts val="500"/>
              </a:spcAft>
            </a:pPr>
            <a:r>
              <a:rPr sz="1150" b="0" i="0">
                <a:solidFill>
                  <a:srgbClr val="131A24"/>
                </a:solidFill>
                <a:latin typeface="Calibri"/>
              </a:rPr>
              <a:t>Lyall</a:t>
            </a:r>
          </a:p>
        </p:txBody>
      </p:sp>
      <p:sp>
        <p:nvSpPr>
          <p:cNvPr id="7" name="TextBox 6"/>
          <p:cNvSpPr txBox="1"/>
          <p:nvPr/>
        </p:nvSpPr>
        <p:spPr>
          <a:xfrm>
            <a:off x="1097280" y="5742432"/>
            <a:ext cx="9966960" cy="594360"/>
          </a:xfrm>
          <a:prstGeom prst="rect">
            <a:avLst/>
          </a:prstGeom>
          <a:noFill/>
        </p:spPr>
        <p:txBody>
          <a:bodyPr wrap="square" anchor="t">
            <a:spAutoFit/>
          </a:bodyPr>
          <a:lstStyle/>
          <a:p>
            <a:pPr algn="l"/>
            <a:r>
              <a:rPr sz="1000" b="1" i="0">
                <a:solidFill>
                  <a:srgbClr val="FF6B38"/>
                </a:solidFill>
                <a:latin typeface="Calibri"/>
              </a:rPr>
              <a:t>Council variant:  </a:t>
            </a:r>
            <a:r>
              <a:rPr sz="1000" b="0" i="0">
                <a:solidFill>
                  <a:srgbClr val="5B6473"/>
                </a:solidFill>
                <a:latin typeface="Calibri"/>
              </a:rPr>
              <a:t>Option two becomes a group enrolment for the executive team and comms staff at a bulk rate.</a:t>
            </a:r>
          </a:p>
        </p:txBody>
      </p:sp>
      <p:sp>
        <p:nvSpPr>
          <p:cNvPr id="8" name="TextBox 7"/>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651760"/>
            <a:ext cx="10515600" cy="1645920"/>
          </a:xfrm>
          <a:prstGeom prst="rect">
            <a:avLst/>
          </a:prstGeom>
          <a:noFill/>
        </p:spPr>
        <p:txBody>
          <a:bodyPr wrap="square" anchor="t">
            <a:spAutoFit/>
          </a:bodyPr>
          <a:lstStyle/>
          <a:p>
            <a:pPr algn="l">
              <a:spcAft>
                <a:spcPts val="600"/>
              </a:spcAft>
            </a:pPr>
            <a:r>
              <a:rPr sz="3400" b="1" i="0">
                <a:solidFill>
                  <a:srgbClr val="FFFFFF"/>
                </a:solidFill>
                <a:latin typeface="Calibri"/>
              </a:rPr>
              <a:t>Sequence C: Business pilot</a:t>
            </a:r>
          </a:p>
          <a:p>
            <a:pPr algn="l"/>
            <a:r>
              <a:rPr sz="1600" b="0" i="0">
                <a:solidFill>
                  <a:srgbClr val="9AA8BE"/>
                </a:solidFill>
                <a:latin typeface="Calibri"/>
              </a:rPr>
              <a:t>Round 1 only for now. Emails 2 to 4 follow once round-1 results are in.</a:t>
            </a:r>
          </a:p>
        </p:txBody>
      </p:sp>
      <p:sp>
        <p:nvSpPr>
          <p:cNvPr id="6" name="TextBox 5"/>
          <p:cNvSpPr txBox="1"/>
          <p:nvPr/>
        </p:nvSpPr>
        <p:spPr>
          <a:xfrm>
            <a:off x="822960" y="6419088"/>
            <a:ext cx="10515600" cy="365760"/>
          </a:xfrm>
          <a:prstGeom prst="rect">
            <a:avLst/>
          </a:prstGeom>
          <a:noFill/>
        </p:spPr>
        <p:txBody>
          <a:bodyPr wrap="square" anchor="t">
            <a:spAutoFit/>
          </a:bodyPr>
          <a:lstStyle/>
          <a:p>
            <a:pPr algn="l"/>
            <a:r>
              <a:rPr sz="900" b="0" i="0">
                <a:solidFill>
                  <a:srgbClr val="9AA8BE"/>
                </a:solidFill>
                <a:latin typeface="Calibri"/>
              </a:rPr>
              <a:t>3P Digital  x  My PR Partner   |   Crisis Masterclass EDM campaign   |   July 2026</a:t>
            </a:r>
            <a:r>
              <a:rPr sz="900" b="1" i="0">
                <a:solidFill>
                  <a:srgbClr val="9AA8BE"/>
                </a:solidFill>
                <a:latin typeface="Calibri"/>
              </a:rPr>
              <a:t>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960120"/>
          </a:xfrm>
          <a:prstGeom prst="rect">
            <a:avLst/>
          </a:prstGeom>
          <a:noFill/>
        </p:spPr>
        <p:txBody>
          <a:bodyPr wrap="square" anchor="t">
            <a:spAutoFit/>
          </a:bodyPr>
          <a:lstStyle/>
          <a:p>
            <a:pPr algn="l">
              <a:spcAft>
                <a:spcPts val="300"/>
              </a:spcAft>
            </a:pPr>
            <a:r>
              <a:rPr sz="1300" b="1" i="0">
                <a:solidFill>
                  <a:srgbClr val="FF6B38"/>
                </a:solidFill>
                <a:latin typeface="Calibri"/>
              </a:rPr>
              <a:t>BUSINESS PILOT  |  EMAIL 1  |  ROUND 1</a:t>
            </a:r>
          </a:p>
          <a:p>
            <a:pPr algn="l">
              <a:spcAft>
                <a:spcPts val="100"/>
              </a:spcAft>
            </a:pPr>
            <a:r>
              <a:rPr sz="1500" b="0" i="0">
                <a:solidFill>
                  <a:srgbClr val="5B6473"/>
                </a:solidFill>
                <a:latin typeface="Calibri"/>
              </a:rPr>
              <a:t>Subject:  </a:t>
            </a:r>
            <a:r>
              <a:rPr sz="1500" b="1" i="0">
                <a:solidFill>
                  <a:srgbClr val="131A24"/>
                </a:solidFill>
                <a:latin typeface="Calibri"/>
              </a:rPr>
              <a:t>Your crisis plan covers the fire. Not the Facebook post.</a:t>
            </a:r>
          </a:p>
          <a:p>
            <a:pPr algn="l"/>
            <a:r>
              <a:rPr sz="1150" b="0" i="0">
                <a:solidFill>
                  <a:srgbClr val="5B6473"/>
                </a:solidFill>
                <a:latin typeface="Calibri"/>
              </a:rPr>
              <a:t>Preview:  </a:t>
            </a:r>
            <a:r>
              <a:rPr sz="1150" b="0" i="0">
                <a:solidFill>
                  <a:srgbClr val="07AFBB"/>
                </a:solidFill>
                <a:latin typeface="Calibri"/>
              </a:rPr>
              <a:t>The first 24 hours decide it. One-page guide, free.</a:t>
            </a:r>
          </a:p>
        </p:txBody>
      </p:sp>
      <p:sp>
        <p:nvSpPr>
          <p:cNvPr id="5" name="Rectangle 4"/>
          <p:cNvSpPr/>
          <p:nvPr/>
        </p:nvSpPr>
        <p:spPr>
          <a:xfrm>
            <a:off x="822960" y="1627632"/>
            <a:ext cx="10515600" cy="4617720"/>
          </a:xfrm>
          <a:prstGeom prst="rect">
            <a:avLst/>
          </a:prstGeom>
          <a:solidFill>
            <a:srgbClr val="F5F7FA"/>
          </a:solidFill>
          <a:ln w="12700">
            <a:solidFill>
              <a:srgbClr val="E6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83080"/>
            <a:ext cx="9966960" cy="4343400"/>
          </a:xfrm>
          <a:prstGeom prst="rect">
            <a:avLst/>
          </a:prstGeom>
          <a:noFill/>
        </p:spPr>
        <p:txBody>
          <a:bodyPr wrap="square" anchor="t">
            <a:spAutoFit/>
          </a:bodyPr>
          <a:lstStyle/>
          <a:p>
            <a:pPr algn="l">
              <a:spcAft>
                <a:spcPts val="500"/>
              </a:spcAft>
            </a:pPr>
            <a:r>
              <a:rPr sz="1150" b="0" i="0">
                <a:solidFill>
                  <a:srgbClr val="131A24"/>
                </a:solidFill>
                <a:latin typeface="Calibri"/>
              </a:rPr>
              <a:t>Good morning {{first_name}},</a:t>
            </a:r>
          </a:p>
          <a:p>
            <a:pPr algn="l">
              <a:spcAft>
                <a:spcPts val="500"/>
              </a:spcAft>
            </a:pPr>
            <a:r>
              <a:rPr sz="1150" b="0" i="0">
                <a:solidFill>
                  <a:srgbClr val="131A24"/>
                </a:solidFill>
                <a:latin typeface="Calibri"/>
              </a:rPr>
              <a:t>Every business has insurance for the fire, the flood and the break-in. Almost none has a plan for the crisis that actually arrives first: the one-star pile-on, the staff dispute that ends up on social media, the journalist calling about something a customer posted.</a:t>
            </a:r>
          </a:p>
          <a:p>
            <a:pPr algn="l">
              <a:spcAft>
                <a:spcPts val="500"/>
              </a:spcAft>
            </a:pPr>
            <a:r>
              <a:rPr sz="1150" b="0" i="0">
                <a:solidFill>
                  <a:srgbClr val="131A24"/>
                </a:solidFill>
                <a:latin typeface="Calibri"/>
              </a:rPr>
              <a:t>When that day comes, the first 24 hours decide whether it is a bad week or lasting damage. We have put the first day on one page: how to tell an issue from a crisis, who says what and in what order, and the communication formula that calms an angry public when facts alone will not.</a:t>
            </a:r>
          </a:p>
          <a:p>
            <a:pPr algn="l">
              <a:spcAft>
                <a:spcPts val="500"/>
              </a:spcAft>
            </a:pPr>
            <a:r>
              <a:rPr sz="1150" b="0" i="0">
                <a:solidFill>
                  <a:srgbClr val="131A24"/>
                </a:solidFill>
                <a:latin typeface="Calibri"/>
              </a:rPr>
              <a:t>It is free, and it is a direct download, no sign-up:</a:t>
            </a:r>
          </a:p>
          <a:p>
            <a:pPr algn="l">
              <a:spcAft>
                <a:spcPts val="500"/>
              </a:spcAft>
            </a:pPr>
            <a:r>
              <a:rPr sz="1150" b="1" i="0">
                <a:solidFill>
                  <a:srgbClr val="1A2B4A"/>
                </a:solidFill>
                <a:latin typeface="Calibri"/>
              </a:rPr>
              <a:t>[Download The First 24 Hours desk guide]</a:t>
            </a:r>
          </a:p>
          <a:p>
            <a:pPr algn="l">
              <a:spcAft>
                <a:spcPts val="500"/>
              </a:spcAft>
            </a:pPr>
            <a:r>
              <a:rPr sz="1150" b="0" i="0">
                <a:solidFill>
                  <a:srgbClr val="131A24"/>
                </a:solidFill>
                <a:latin typeface="Calibri"/>
              </a:rPr>
              <a:t>Print it, keep it near the phone, and hope you never need it. In my next note I will show you what the businesses that handle these moments well do differently.</a:t>
            </a:r>
          </a:p>
          <a:p>
            <a:pPr algn="l">
              <a:spcAft>
                <a:spcPts val="500"/>
              </a:spcAft>
            </a:pPr>
            <a:r>
              <a:rPr sz="1150" b="0" i="0">
                <a:solidFill>
                  <a:srgbClr val="131A24"/>
                </a:solidFill>
                <a:latin typeface="Calibri"/>
              </a:rPr>
              <a:t>Lyall Mercer
Co-founder, My PR Partner  |  Lead Strategist, CRC Public Relations</a:t>
            </a:r>
          </a:p>
        </p:txBody>
      </p:sp>
      <p:sp>
        <p:nvSpPr>
          <p:cNvPr id="7" name="TextBox 6"/>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21</a:t>
            </a:r>
          </a:p>
        </p:txBody>
      </p:sp>
      <p:sp>
        <p:nvSpPr>
          <p:cNvPr id="8" name="TextBox 7"/>
          <p:cNvSpPr txBox="1"/>
          <p:nvPr/>
        </p:nvSpPr>
        <p:spPr>
          <a:xfrm>
            <a:off x="1097280" y="5742432"/>
            <a:ext cx="9966960" cy="594360"/>
          </a:xfrm>
          <a:prstGeom prst="rect">
            <a:avLst/>
          </a:prstGeom>
          <a:noFill/>
        </p:spPr>
        <p:txBody>
          <a:bodyPr wrap="square" anchor="t">
            <a:spAutoFit/>
          </a:bodyPr>
          <a:lstStyle/>
          <a:p>
            <a:pPr algn="l"/>
            <a:r>
              <a:rPr sz="1000" b="1" i="0">
                <a:solidFill>
                  <a:srgbClr val="FF6B38"/>
                </a:solidFill>
                <a:latin typeface="Calibri"/>
              </a:rPr>
              <a:t>Unnamed-contact variant:  </a:t>
            </a:r>
            <a:r>
              <a:rPr sz="1000" b="0" i="0">
                <a:solidFill>
                  <a:srgbClr val="5B6473"/>
                </a:solidFill>
                <a:latin typeface="Calibri"/>
              </a:rPr>
              <a:t>salutation becomes "Good morning," and the subject becomes "The plan {{business_name}} probably doesn't have".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1480"/>
            <a:ext cx="10515600" cy="1371600"/>
          </a:xfrm>
          <a:prstGeom prst="rect">
            <a:avLst/>
          </a:prstGeom>
          <a:noFill/>
        </p:spPr>
        <p:txBody>
          <a:bodyPr wrap="square" anchor="t">
            <a:spAutoFit/>
          </a:bodyPr>
          <a:lstStyle/>
          <a:p>
            <a:pPr algn="l">
              <a:spcAft>
                <a:spcPts val="400"/>
              </a:spcAft>
            </a:pPr>
            <a:r>
              <a:rPr sz="1300" b="1" i="0">
                <a:solidFill>
                  <a:srgbClr val="FF6B38"/>
                </a:solidFill>
                <a:latin typeface="Calibri"/>
              </a:rPr>
              <a:t>EXECUTION</a:t>
            </a:r>
          </a:p>
          <a:p>
            <a:pPr algn="l"/>
            <a:r>
              <a:rPr sz="2700" b="1" i="0">
                <a:solidFill>
                  <a:srgbClr val="131A24"/>
                </a:solidFill>
                <a:latin typeface="Calibri"/>
              </a:rPr>
              <a:t>Round 1 to every segment this week</a:t>
            </a:r>
          </a:p>
        </p:txBody>
      </p:sp>
      <p:sp>
        <p:nvSpPr>
          <p:cNvPr id="5" name="TextBox 4"/>
          <p:cNvSpPr txBox="1"/>
          <p:nvPr/>
        </p:nvSpPr>
        <p:spPr>
          <a:xfrm>
            <a:off x="822960" y="1828800"/>
            <a:ext cx="2011680" cy="822960"/>
          </a:xfrm>
          <a:prstGeom prst="rect">
            <a:avLst/>
          </a:prstGeom>
          <a:noFill/>
        </p:spPr>
        <p:txBody>
          <a:bodyPr wrap="square" anchor="t">
            <a:spAutoFit/>
          </a:bodyPr>
          <a:lstStyle/>
          <a:p>
            <a:pPr algn="l"/>
            <a:r>
              <a:rPr sz="1450" b="1" i="0">
                <a:solidFill>
                  <a:srgbClr val="FF6B38"/>
                </a:solidFill>
                <a:latin typeface="Calibri"/>
              </a:rPr>
              <a:t>Tue 22 July</a:t>
            </a:r>
          </a:p>
        </p:txBody>
      </p:sp>
      <p:sp>
        <p:nvSpPr>
          <p:cNvPr id="6" name="TextBox 5"/>
          <p:cNvSpPr txBox="1"/>
          <p:nvPr/>
        </p:nvSpPr>
        <p:spPr>
          <a:xfrm>
            <a:off x="2926080" y="1828800"/>
            <a:ext cx="8412480" cy="1051560"/>
          </a:xfrm>
          <a:prstGeom prst="rect">
            <a:avLst/>
          </a:prstGeom>
          <a:noFill/>
        </p:spPr>
        <p:txBody>
          <a:bodyPr wrap="square" anchor="t">
            <a:spAutoFit/>
          </a:bodyPr>
          <a:lstStyle/>
          <a:p>
            <a:pPr algn="l"/>
            <a:r>
              <a:rPr sz="1250" b="0" i="0">
                <a:solidFill>
                  <a:srgbClr val="5B6473"/>
                </a:solidFill>
                <a:latin typeface="Calibri"/>
              </a:rPr>
              <a:t>Sending infrastructure purchased today: 3 dedicated domains, 12 to 16 pre-warmed inboxes, authentication configured. Kept fully separate from your Kajabi account and main domain. All three lists cleaned and suppressed in parallel.</a:t>
            </a:r>
          </a:p>
        </p:txBody>
      </p:sp>
      <p:sp>
        <p:nvSpPr>
          <p:cNvPr id="7" name="TextBox 6"/>
          <p:cNvSpPr txBox="1"/>
          <p:nvPr/>
        </p:nvSpPr>
        <p:spPr>
          <a:xfrm>
            <a:off x="822960" y="2852928"/>
            <a:ext cx="2011680" cy="822960"/>
          </a:xfrm>
          <a:prstGeom prst="rect">
            <a:avLst/>
          </a:prstGeom>
          <a:noFill/>
        </p:spPr>
        <p:txBody>
          <a:bodyPr wrap="square" anchor="t">
            <a:spAutoFit/>
          </a:bodyPr>
          <a:lstStyle/>
          <a:p>
            <a:pPr algn="l"/>
            <a:r>
              <a:rPr sz="1450" b="1" i="0">
                <a:solidFill>
                  <a:srgbClr val="FF6B38"/>
                </a:solidFill>
                <a:latin typeface="Calibri"/>
              </a:rPr>
              <a:t>Wed 23 July</a:t>
            </a:r>
          </a:p>
        </p:txBody>
      </p:sp>
      <p:sp>
        <p:nvSpPr>
          <p:cNvPr id="8" name="TextBox 7"/>
          <p:cNvSpPr txBox="1"/>
          <p:nvPr/>
        </p:nvSpPr>
        <p:spPr>
          <a:xfrm>
            <a:off x="2926080" y="2852928"/>
            <a:ext cx="8412480" cy="1051560"/>
          </a:xfrm>
          <a:prstGeom prst="rect">
            <a:avLst/>
          </a:prstGeom>
          <a:noFill/>
        </p:spPr>
        <p:txBody>
          <a:bodyPr wrap="square" anchor="t">
            <a:spAutoFit/>
          </a:bodyPr>
          <a:lstStyle/>
          <a:p>
            <a:pPr algn="l"/>
            <a:r>
              <a:rPr sz="1250" b="0" i="0">
                <a:solidFill>
                  <a:srgbClr val="5B6473"/>
                </a:solidFill>
                <a:latin typeface="Calibri"/>
              </a:rPr>
              <a:t>Councils: all 523 receive email 1 in one day. Schools begin the same day, biggest schools first.</a:t>
            </a:r>
          </a:p>
        </p:txBody>
      </p:sp>
      <p:sp>
        <p:nvSpPr>
          <p:cNvPr id="9" name="TextBox 8"/>
          <p:cNvSpPr txBox="1"/>
          <p:nvPr/>
        </p:nvSpPr>
        <p:spPr>
          <a:xfrm>
            <a:off x="822960" y="3877056"/>
            <a:ext cx="2011680" cy="822960"/>
          </a:xfrm>
          <a:prstGeom prst="rect">
            <a:avLst/>
          </a:prstGeom>
          <a:noFill/>
        </p:spPr>
        <p:txBody>
          <a:bodyPr wrap="square" anchor="t">
            <a:spAutoFit/>
          </a:bodyPr>
          <a:lstStyle/>
          <a:p>
            <a:pPr algn="l"/>
            <a:r>
              <a:rPr sz="1450" b="1" i="0">
                <a:solidFill>
                  <a:srgbClr val="FF6B38"/>
                </a:solidFill>
                <a:latin typeface="Calibri"/>
              </a:rPr>
              <a:t>Wed to Fri</a:t>
            </a:r>
          </a:p>
        </p:txBody>
      </p:sp>
      <p:sp>
        <p:nvSpPr>
          <p:cNvPr id="10" name="TextBox 9"/>
          <p:cNvSpPr txBox="1"/>
          <p:nvPr/>
        </p:nvSpPr>
        <p:spPr>
          <a:xfrm>
            <a:off x="2926080" y="3877056"/>
            <a:ext cx="8412480" cy="1051560"/>
          </a:xfrm>
          <a:prstGeom prst="rect">
            <a:avLst/>
          </a:prstGeom>
          <a:noFill/>
        </p:spPr>
        <p:txBody>
          <a:bodyPr wrap="square" anchor="t">
            <a:spAutoFit/>
          </a:bodyPr>
          <a:lstStyle/>
          <a:p>
            <a:pPr algn="l"/>
            <a:r>
              <a:rPr sz="1250" b="0" i="0">
                <a:solidFill>
                  <a:srgbClr val="5B6473"/>
                </a:solidFill>
                <a:latin typeface="Calibri"/>
              </a:rPr>
              <a:t>Schools roll at 2,500 to 3,500 a day; business pilot (~5,000 named contacts) interleaved. Any remainder completes Monday. Follow-up emails fire automatically on the day-3, day-7, day-10 cadence.</a:t>
            </a:r>
          </a:p>
        </p:txBody>
      </p:sp>
      <p:sp>
        <p:nvSpPr>
          <p:cNvPr id="11" name="TextBox 10"/>
          <p:cNvSpPr txBox="1"/>
          <p:nvPr/>
        </p:nvSpPr>
        <p:spPr>
          <a:xfrm>
            <a:off x="822960" y="4901184"/>
            <a:ext cx="2011680" cy="822960"/>
          </a:xfrm>
          <a:prstGeom prst="rect">
            <a:avLst/>
          </a:prstGeom>
          <a:noFill/>
        </p:spPr>
        <p:txBody>
          <a:bodyPr wrap="square" anchor="t">
            <a:spAutoFit/>
          </a:bodyPr>
          <a:lstStyle/>
          <a:p>
            <a:pPr algn="l"/>
            <a:r>
              <a:rPr sz="1450" b="1" i="0">
                <a:solidFill>
                  <a:srgbClr val="FF6B38"/>
                </a:solidFill>
                <a:latin typeface="Calibri"/>
              </a:rPr>
              <a:t>Daily + August</a:t>
            </a:r>
          </a:p>
        </p:txBody>
      </p:sp>
      <p:sp>
        <p:nvSpPr>
          <p:cNvPr id="12" name="TextBox 11"/>
          <p:cNvSpPr txBox="1"/>
          <p:nvPr/>
        </p:nvSpPr>
        <p:spPr>
          <a:xfrm>
            <a:off x="2926080" y="4901184"/>
            <a:ext cx="8412480" cy="1051560"/>
          </a:xfrm>
          <a:prstGeom prst="rect">
            <a:avLst/>
          </a:prstGeom>
          <a:noFill/>
        </p:spPr>
        <p:txBody>
          <a:bodyPr wrap="square" anchor="t">
            <a:spAutoFit/>
          </a:bodyPr>
          <a:lstStyle/>
          <a:p>
            <a:pPr algn="l"/>
            <a:r>
              <a:rPr sz="1250" b="0" i="0">
                <a:solidFill>
                  <a:srgbClr val="5B6473"/>
                </a:solidFill>
                <a:latin typeface="Calibri"/>
              </a:rPr>
              <a:t>Lyall answers replies personally; any inbox with rising bounces pauses instantly. August: wider business rollout guided by pilot results, association list launch, AuSAE and Associations Forum partnerships.</a:t>
            </a:r>
          </a:p>
        </p:txBody>
      </p:sp>
      <p:sp>
        <p:nvSpPr>
          <p:cNvPr id="13" name="TextBox 12"/>
          <p:cNvSpPr txBox="1"/>
          <p:nvPr/>
        </p:nvSpPr>
        <p:spPr>
          <a:xfrm>
            <a:off x="822960" y="6419088"/>
            <a:ext cx="10515600" cy="365760"/>
          </a:xfrm>
          <a:prstGeom prst="rect">
            <a:avLst/>
          </a:prstGeom>
          <a:noFill/>
        </p:spPr>
        <p:txBody>
          <a:bodyPr wrap="square" anchor="t">
            <a:spAutoFit/>
          </a:bodyPr>
          <a:lstStyle/>
          <a:p>
            <a:pPr algn="l"/>
            <a:r>
              <a:rPr sz="900" b="0" i="0">
                <a:solidFill>
                  <a:srgbClr val="5B6473"/>
                </a:solidFill>
                <a:latin typeface="Calibri"/>
              </a:rPr>
              <a:t>3P Digital  x  My PR Partner   |   Crisis Masterclass EDM campaign   |   July 2026</a:t>
            </a:r>
            <a:r>
              <a:rPr sz="900" b="1" i="0">
                <a:solidFill>
                  <a:srgbClr val="5B6473"/>
                </a:solidFill>
                <a:latin typeface="Calibri"/>
              </a:rPr>
              <a:t>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FF6B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40080"/>
            <a:ext cx="10515600" cy="1097280"/>
          </a:xfrm>
          <a:prstGeom prst="rect">
            <a:avLst/>
          </a:prstGeom>
          <a:noFill/>
        </p:spPr>
        <p:txBody>
          <a:bodyPr wrap="square" anchor="t">
            <a:spAutoFit/>
          </a:bodyPr>
          <a:lstStyle/>
          <a:p>
            <a:pPr algn="l">
              <a:spcAft>
                <a:spcPts val="400"/>
              </a:spcAft>
            </a:pPr>
            <a:r>
              <a:rPr sz="1300" b="1" i="0">
                <a:solidFill>
                  <a:srgbClr val="FF6B38"/>
                </a:solidFill>
                <a:latin typeface="Calibri"/>
              </a:rPr>
              <a:t>WHAT WE NEED FROM YOU</a:t>
            </a:r>
          </a:p>
          <a:p>
            <a:pPr algn="l"/>
            <a:r>
              <a:rPr sz="3000" b="1" i="0">
                <a:solidFill>
                  <a:srgbClr val="FFFFFF"/>
                </a:solidFill>
                <a:latin typeface="Calibri"/>
              </a:rPr>
              <a:t>Three sign-offs and we send</a:t>
            </a:r>
          </a:p>
        </p:txBody>
      </p:sp>
      <p:sp>
        <p:nvSpPr>
          <p:cNvPr id="6" name="TextBox 5"/>
          <p:cNvSpPr txBox="1"/>
          <p:nvPr/>
        </p:nvSpPr>
        <p:spPr>
          <a:xfrm>
            <a:off x="822960" y="2103120"/>
            <a:ext cx="10515600" cy="1188720"/>
          </a:xfrm>
          <a:prstGeom prst="rect">
            <a:avLst/>
          </a:prstGeom>
          <a:noFill/>
        </p:spPr>
        <p:txBody>
          <a:bodyPr wrap="square" anchor="t">
            <a:spAutoFit/>
          </a:bodyPr>
          <a:lstStyle/>
          <a:p>
            <a:pPr algn="l">
              <a:spcAft>
                <a:spcPts val="200"/>
              </a:spcAft>
            </a:pPr>
            <a:r>
              <a:rPr sz="1600" b="1" i="0">
                <a:solidFill>
                  <a:srgbClr val="C9A84C"/>
                </a:solidFill>
                <a:latin typeface="Calibri"/>
              </a:rPr>
              <a:t>1. Approve or redline the email copy.</a:t>
            </a:r>
          </a:p>
          <a:p>
            <a:pPr algn="l"/>
            <a:r>
              <a:rPr sz="1250" b="0" i="0">
                <a:solidFill>
                  <a:srgbClr val="C9D4E4"/>
                </a:solidFill>
                <a:latin typeface="Calibri"/>
              </a:rPr>
              <a:t>Every word in this deck is editable. The emails go out under Lyall's name, so they need to sound like him. Mark up anything.</a:t>
            </a:r>
          </a:p>
        </p:txBody>
      </p:sp>
      <p:sp>
        <p:nvSpPr>
          <p:cNvPr id="7" name="TextBox 6"/>
          <p:cNvSpPr txBox="1"/>
          <p:nvPr/>
        </p:nvSpPr>
        <p:spPr>
          <a:xfrm>
            <a:off x="822960" y="3246120"/>
            <a:ext cx="10515600" cy="1188720"/>
          </a:xfrm>
          <a:prstGeom prst="rect">
            <a:avLst/>
          </a:prstGeom>
          <a:noFill/>
        </p:spPr>
        <p:txBody>
          <a:bodyPr wrap="square" anchor="t">
            <a:spAutoFit/>
          </a:bodyPr>
          <a:lstStyle/>
          <a:p>
            <a:pPr algn="l">
              <a:spcAft>
                <a:spcPts val="200"/>
              </a:spcAft>
            </a:pPr>
            <a:r>
              <a:rPr sz="1600" b="1" i="0">
                <a:solidFill>
                  <a:srgbClr val="C9A84C"/>
                </a:solidFill>
                <a:latin typeface="Calibri"/>
              </a:rPr>
              <a:t>2. Approve the three lead magnets.</a:t>
            </a:r>
          </a:p>
          <a:p>
            <a:pPr algn="l"/>
            <a:r>
              <a:rPr sz="1250" b="0" i="0">
                <a:solidFill>
                  <a:srgbClr val="C9D4E4"/>
                </a:solidFill>
                <a:latin typeface="Calibri"/>
              </a:rPr>
              <a:t>They are built, on brand, and ready to go live on myprpartner.com the moment you say yes.</a:t>
            </a:r>
          </a:p>
        </p:txBody>
      </p:sp>
      <p:sp>
        <p:nvSpPr>
          <p:cNvPr id="8" name="TextBox 7"/>
          <p:cNvSpPr txBox="1"/>
          <p:nvPr/>
        </p:nvSpPr>
        <p:spPr>
          <a:xfrm>
            <a:off x="822960" y="4389120"/>
            <a:ext cx="10515600" cy="1188720"/>
          </a:xfrm>
          <a:prstGeom prst="rect">
            <a:avLst/>
          </a:prstGeom>
          <a:noFill/>
        </p:spPr>
        <p:txBody>
          <a:bodyPr wrap="square" anchor="t">
            <a:spAutoFit/>
          </a:bodyPr>
          <a:lstStyle/>
          <a:p>
            <a:pPr algn="l">
              <a:spcAft>
                <a:spcPts val="200"/>
              </a:spcAft>
            </a:pPr>
            <a:r>
              <a:rPr sz="1600" b="1" i="0">
                <a:solidFill>
                  <a:srgbClr val="C9A84C"/>
                </a:solidFill>
                <a:latin typeface="Calibri"/>
              </a:rPr>
              <a:t>3. Confirm the business pilot slice.</a:t>
            </a:r>
          </a:p>
          <a:p>
            <a:pPr algn="l"/>
            <a:r>
              <a:rPr sz="1250" b="0" i="0">
                <a:solidFill>
                  <a:srgbClr val="C9D4E4"/>
                </a:solidFill>
                <a:latin typeface="Calibri"/>
              </a:rPr>
              <a:t>Round 1 hits councils, all schools and a 5,000-contact business pilot this week. Tell us which industries you want in that pilot (our pick: NDIS and healthcare, hospitality, real estate).</a:t>
            </a:r>
          </a:p>
        </p:txBody>
      </p:sp>
      <p:sp>
        <p:nvSpPr>
          <p:cNvPr id="9" name="TextBox 8"/>
          <p:cNvSpPr txBox="1"/>
          <p:nvPr/>
        </p:nvSpPr>
        <p:spPr>
          <a:xfrm>
            <a:off x="822960" y="5806440"/>
            <a:ext cx="10515600" cy="457200"/>
          </a:xfrm>
          <a:prstGeom prst="rect">
            <a:avLst/>
          </a:prstGeom>
          <a:noFill/>
        </p:spPr>
        <p:txBody>
          <a:bodyPr wrap="square" anchor="t">
            <a:spAutoFit/>
          </a:bodyPr>
          <a:lstStyle/>
          <a:p>
            <a:pPr algn="l"/>
            <a:r>
              <a:rPr sz="1200" b="0" i="0">
                <a:solidFill>
                  <a:srgbClr val="9AA8BE"/>
                </a:solidFill>
                <a:latin typeface="Calibri"/>
              </a:rPr>
              <a:t>3P Digital  |  alex@3pdigital.com.au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