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B4A"/>
        </a:solidFill>
        <a:effectLst/>
      </p:bgPr>
    </p:bg>
    <p:spTree>
      <p:nvGrpSpPr>
        <p:cNvPr id="1" name=""/>
        <p:cNvGrpSpPr/>
        <p:nvPr/>
      </p:nvGrpSpPr>
      <p:grpSpPr/>
      <p:sp>
        <p:nvSpPr>
          <p:cNvPr id="2" name="Rectangle 1"/>
          <p:cNvSpPr/>
          <p:nvPr/>
        </p:nvSpPr>
        <p:spPr>
          <a:xfrm>
            <a:off x="0" y="6693408"/>
            <a:ext cx="12191695" cy="164592"/>
          </a:xfrm>
          <a:prstGeom prst="rect">
            <a:avLst/>
          </a:prstGeom>
          <a:solidFill>
            <a:srgbClr val="07A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2377440"/>
          </a:xfrm>
          <a:prstGeom prst="rect">
            <a:avLst/>
          </a:prstGeom>
          <a:noFill/>
        </p:spPr>
        <p:txBody>
          <a:bodyPr wrap="square">
            <a:spAutoFit/>
          </a:bodyPr>
          <a:lstStyle/>
          <a:p>
            <a:pPr algn="l">
              <a:spcAft>
                <a:spcPts val="600"/>
              </a:spcAft>
            </a:pPr>
            <a:r>
              <a:rPr sz="4400" b="1">
                <a:solidFill>
                  <a:srgbClr val="FFFFFF"/>
                </a:solidFill>
                <a:latin typeface="Calibri"/>
              </a:rPr>
              <a:t>My PR Partner</a:t>
            </a:r>
          </a:p>
          <a:p>
            <a:pPr algn="l">
              <a:spcAft>
                <a:spcPts val="600"/>
              </a:spcAft>
            </a:pPr>
            <a:r>
              <a:rPr sz="2800" b="0">
                <a:solidFill>
                  <a:srgbClr val="07AFBB"/>
                </a:solidFill>
                <a:latin typeface="Calibri"/>
              </a:rPr>
              <a:t>Media angles for your review</a:t>
            </a:r>
          </a:p>
          <a:p>
            <a:pPr algn="l">
              <a:spcAft>
                <a:spcPts val="0"/>
              </a:spcAft>
            </a:pPr>
            <a:r>
              <a:rPr sz="1600" b="0">
                <a:solidFill>
                  <a:srgbClr val="C9D4E4"/>
                </a:solidFill>
                <a:latin typeface="Calibri"/>
              </a:rPr>
              <a:t>Earned media to back the Crisis Masterclass and the schools program</a:t>
            </a:r>
          </a:p>
        </p:txBody>
      </p:sp>
      <p:sp>
        <p:nvSpPr>
          <p:cNvPr id="4" name="TextBox 3"/>
          <p:cNvSpPr txBox="1"/>
          <p:nvPr/>
        </p:nvSpPr>
        <p:spPr>
          <a:xfrm>
            <a:off x="822960" y="5760720"/>
            <a:ext cx="10515600" cy="640080"/>
          </a:xfrm>
          <a:prstGeom prst="rect">
            <a:avLst/>
          </a:prstGeom>
          <a:noFill/>
        </p:spPr>
        <p:txBody>
          <a:bodyPr wrap="none">
            <a:spAutoFit/>
          </a:bodyPr>
          <a:lstStyle/>
          <a:p>
            <a:pPr algn="l">
              <a:spcAft>
                <a:spcPts val="600"/>
              </a:spcAft>
            </a:pPr>
            <a:r>
              <a:rPr sz="1200" b="0">
                <a:solidFill>
                  <a:srgbClr val="9AA8BE"/>
                </a:solidFill>
                <a:latin typeface="Calibri"/>
              </a:rPr>
              <a:t>Prepared by 3P Digital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7A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none">
            <a:spAutoFit/>
          </a:bodyPr>
          <a:lstStyle/>
          <a:p>
            <a:pPr algn="l">
              <a:spcAft>
                <a:spcPts val="600"/>
              </a:spcAft>
            </a:pPr>
            <a:r>
              <a:rPr sz="3000" b="1">
                <a:solidFill>
                  <a:srgbClr val="1A2B4A"/>
                </a:solidFill>
                <a:latin typeface="Calibri"/>
              </a:rPr>
              <a:t>Where this fits</a:t>
            </a:r>
          </a:p>
        </p:txBody>
      </p:sp>
      <p:sp>
        <p:nvSpPr>
          <p:cNvPr id="4" name="TextBox 3"/>
          <p:cNvSpPr txBox="1"/>
          <p:nvPr/>
        </p:nvSpPr>
        <p:spPr>
          <a:xfrm>
            <a:off x="822960" y="1463040"/>
            <a:ext cx="10515600" cy="4937760"/>
          </a:xfrm>
          <a:prstGeom prst="rect">
            <a:avLst/>
          </a:prstGeom>
          <a:noFill/>
        </p:spPr>
        <p:txBody>
          <a:bodyPr wrap="square">
            <a:spAutoFit/>
          </a:bodyPr>
          <a:lstStyle/>
          <a:p>
            <a:pPr algn="l">
              <a:spcAft>
                <a:spcPts val="1000"/>
              </a:spcAft>
            </a:pPr>
            <a:r>
              <a:rPr sz="1800" b="1">
                <a:solidFill>
                  <a:srgbClr val="1A1A2E"/>
                </a:solidFill>
                <a:latin typeface="Calibri"/>
              </a:rPr>
              <a:t>The content engine is running.</a:t>
            </a:r>
          </a:p>
          <a:p>
            <a:pPr algn="l">
              <a:spcAft>
                <a:spcPts val="1400"/>
              </a:spcAft>
            </a:pPr>
            <a:r>
              <a:rPr sz="1500" b="0">
                <a:solidFill>
                  <a:srgbClr val="4A4A68"/>
                </a:solidFill>
                <a:latin typeface="Calibri"/>
              </a:rPr>
              <a:t>Your weekly articles are now in production (two crisis pieces are with you for review), each one written in Lyall's voice and pointing readers to the Crisis Masterclass and the schools program.</a:t>
            </a:r>
          </a:p>
          <a:p>
            <a:pPr algn="l">
              <a:spcAft>
                <a:spcPts val="1000"/>
              </a:spcAft>
            </a:pPr>
            <a:r>
              <a:rPr sz="1800" b="1">
                <a:solidFill>
                  <a:srgbClr val="1A1A2E"/>
                </a:solidFill>
                <a:latin typeface="Calibri"/>
              </a:rPr>
              <a:t>Earned media is the multiplier.</a:t>
            </a:r>
          </a:p>
          <a:p>
            <a:pPr algn="l">
              <a:spcAft>
                <a:spcPts val="1400"/>
              </a:spcAft>
            </a:pPr>
            <a:r>
              <a:rPr sz="1500" b="0">
                <a:solidFill>
                  <a:srgbClr val="4A4A68"/>
                </a:solidFill>
                <a:latin typeface="Calibri"/>
              </a:rPr>
              <a:t>Journalist coverage gives the same ideas third-party credibility, builds links that lift the articles in search, and puts Lyall in front of the exact audiences the schools campaign is about to email.</a:t>
            </a:r>
          </a:p>
          <a:p>
            <a:pPr algn="l">
              <a:spcAft>
                <a:spcPts val="1000"/>
              </a:spcAft>
            </a:pPr>
            <a:r>
              <a:rPr sz="1800" b="1">
                <a:solidFill>
                  <a:srgbClr val="1A1A2E"/>
                </a:solidFill>
                <a:latin typeface="Calibri"/>
              </a:rPr>
              <a:t>We found four story angles.</a:t>
            </a:r>
          </a:p>
          <a:p>
            <a:pPr algn="l">
              <a:spcAft>
                <a:spcPts val="0"/>
              </a:spcAft>
            </a:pPr>
            <a:r>
              <a:rPr sz="1500" b="0">
                <a:solidFill>
                  <a:srgbClr val="4A4A68"/>
                </a:solidFill>
                <a:latin typeface="Calibri"/>
              </a:rPr>
              <a:t>Each is scored for newsworthiness (impact, timeliness, proof available). Our recommendation is Angle 1, and we have started preparing it. Nothing is pitched to any journalist without your approval.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15600" cy="548640"/>
          </a:xfrm>
          <a:prstGeom prst="rect">
            <a:avLst/>
          </a:prstGeom>
          <a:noFill/>
        </p:spPr>
        <p:txBody>
          <a:bodyPr wrap="none">
            <a:spAutoFit/>
          </a:bodyPr>
          <a:lstStyle/>
          <a:p>
            <a:pPr algn="l">
              <a:spcAft>
                <a:spcPts val="600"/>
              </a:spcAft>
            </a:pPr>
            <a:r>
              <a:rPr sz="1500" b="1">
                <a:solidFill>
                  <a:srgbClr val="C9A84C"/>
                </a:solidFill>
                <a:latin typeface="Calibri"/>
              </a:rPr>
              <a:t>Angle 1  |  Recommended</a:t>
            </a:r>
          </a:p>
        </p:txBody>
      </p:sp>
      <p:sp>
        <p:nvSpPr>
          <p:cNvPr id="4" name="TextBox 3"/>
          <p:cNvSpPr txBox="1"/>
          <p:nvPr/>
        </p:nvSpPr>
        <p:spPr>
          <a:xfrm>
            <a:off x="822960" y="960120"/>
            <a:ext cx="10515600" cy="1188720"/>
          </a:xfrm>
          <a:prstGeom prst="rect">
            <a:avLst/>
          </a:prstGeom>
          <a:noFill/>
        </p:spPr>
        <p:txBody>
          <a:bodyPr wrap="square">
            <a:spAutoFit/>
          </a:bodyPr>
          <a:lstStyle/>
          <a:p>
            <a:pPr algn="l">
              <a:spcAft>
                <a:spcPts val="600"/>
              </a:spcAft>
            </a:pPr>
            <a:r>
              <a:rPr sz="2700" b="1">
                <a:solidFill>
                  <a:srgbClr val="1A2B4A"/>
                </a:solidFill>
                <a:latin typeface="Calibri"/>
              </a:rPr>
              <a:t>Schools are failing the parent test during emergencies</a:t>
            </a:r>
          </a:p>
        </p:txBody>
      </p:sp>
      <p:sp>
        <p:nvSpPr>
          <p:cNvPr id="5" name="TextBox 4"/>
          <p:cNvSpPr txBox="1"/>
          <p:nvPr/>
        </p:nvSpPr>
        <p:spPr>
          <a:xfrm>
            <a:off x="822960" y="2240280"/>
            <a:ext cx="10515600" cy="4206240"/>
          </a:xfrm>
          <a:prstGeom prst="rect">
            <a:avLst/>
          </a:prstGeom>
          <a:noFill/>
        </p:spPr>
        <p:txBody>
          <a:bodyPr wrap="square">
            <a:spAutoFit/>
          </a:bodyPr>
          <a:lstStyle/>
          <a:p>
            <a:pPr algn="l">
              <a:spcAft>
                <a:spcPts val="1200"/>
              </a:spcAft>
            </a:pPr>
            <a:r>
              <a:rPr sz="1500" b="0">
                <a:solidFill>
                  <a:srgbClr val="1A1A2E"/>
                </a:solidFill>
                <a:latin typeface="Calibri"/>
              </a:rPr>
              <a:t>School crises now play out in community Facebook groups and parent text chains. Boards want to say nothing on legal advice while parents demand instant answers from principals. Lyall has direct standing on both sides of that tension: the legal caution and the communication imperative.</a:t>
            </a:r>
          </a:p>
          <a:p>
            <a:pPr algn="l">
              <a:spcAft>
                <a:spcPts val="1200"/>
              </a:spcAft>
            </a:pPr>
            <a:r>
              <a:rPr sz="1300" b="1">
                <a:solidFill>
                  <a:srgbClr val="07AFBB"/>
                </a:solidFill>
                <a:latin typeface="Calibri"/>
              </a:rPr>
              <a:t>Format: local interest story  |  Score: 3.1 out of 5</a:t>
            </a:r>
          </a:p>
          <a:p>
            <a:pPr algn="l">
              <a:spcAft>
                <a:spcPts val="1200"/>
              </a:spcAft>
            </a:pPr>
            <a:r>
              <a:rPr sz="1300" b="0">
                <a:solidFill>
                  <a:srgbClr val="4A4A68"/>
                </a:solidFill>
                <a:latin typeface="Calibri"/>
              </a:rPr>
              <a:t>Proof we bring: search data showing rising anxiety around school crisis communication, plus anonymised examples of recent Queensland school incidents where the official response sparked parent backlash.</a:t>
            </a:r>
          </a:p>
          <a:p>
            <a:pPr algn="l">
              <a:spcAft>
                <a:spcPts val="0"/>
              </a:spcAft>
            </a:pPr>
            <a:r>
              <a:rPr sz="1300" b="0">
                <a:solidFill>
                  <a:srgbClr val="4A4A68"/>
                </a:solidFill>
                <a:latin typeface="Calibri"/>
              </a:rPr>
              <a:t>Why it supports the campaign: it speaks straight to principals and school leaders, the exact audience of the schools program EDM, and it echoes the new crisis communication article on your 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7A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15600" cy="548640"/>
          </a:xfrm>
          <a:prstGeom prst="rect">
            <a:avLst/>
          </a:prstGeom>
          <a:noFill/>
        </p:spPr>
        <p:txBody>
          <a:bodyPr wrap="none">
            <a:spAutoFit/>
          </a:bodyPr>
          <a:lstStyle/>
          <a:p>
            <a:pPr algn="l">
              <a:spcAft>
                <a:spcPts val="600"/>
              </a:spcAft>
            </a:pPr>
            <a:r>
              <a:rPr sz="1500" b="1">
                <a:solidFill>
                  <a:srgbClr val="07AFBB"/>
                </a:solidFill>
                <a:latin typeface="Calibri"/>
              </a:rPr>
              <a:t>Angle 2</a:t>
            </a:r>
          </a:p>
        </p:txBody>
      </p:sp>
      <p:sp>
        <p:nvSpPr>
          <p:cNvPr id="4" name="TextBox 3"/>
          <p:cNvSpPr txBox="1"/>
          <p:nvPr/>
        </p:nvSpPr>
        <p:spPr>
          <a:xfrm>
            <a:off x="822960" y="960120"/>
            <a:ext cx="10515600" cy="1188720"/>
          </a:xfrm>
          <a:prstGeom prst="rect">
            <a:avLst/>
          </a:prstGeom>
          <a:noFill/>
        </p:spPr>
        <p:txBody>
          <a:bodyPr wrap="square">
            <a:spAutoFit/>
          </a:bodyPr>
          <a:lstStyle/>
          <a:p>
            <a:pPr algn="l">
              <a:spcAft>
                <a:spcPts val="600"/>
              </a:spcAft>
            </a:pPr>
            <a:r>
              <a:rPr sz="2700" b="1">
                <a:solidFill>
                  <a:srgbClr val="1A2B4A"/>
                </a:solidFill>
                <a:latin typeface="Calibri"/>
              </a:rPr>
              <a:t>The 'I don't want to talk to the media' myth</a:t>
            </a:r>
          </a:p>
        </p:txBody>
      </p:sp>
      <p:sp>
        <p:nvSpPr>
          <p:cNvPr id="5" name="TextBox 4"/>
          <p:cNvSpPr txBox="1"/>
          <p:nvPr/>
        </p:nvSpPr>
        <p:spPr>
          <a:xfrm>
            <a:off x="822960" y="2240280"/>
            <a:ext cx="10515600" cy="4206240"/>
          </a:xfrm>
          <a:prstGeom prst="rect">
            <a:avLst/>
          </a:prstGeom>
          <a:noFill/>
        </p:spPr>
        <p:txBody>
          <a:bodyPr wrap="square">
            <a:spAutoFit/>
          </a:bodyPr>
          <a:lstStyle/>
          <a:p>
            <a:pPr algn="l">
              <a:spcAft>
                <a:spcPts val="1200"/>
              </a:spcAft>
            </a:pPr>
            <a:r>
              <a:rPr sz="1500" b="0">
                <a:solidFill>
                  <a:srgbClr val="1A1A2E"/>
                </a:solidFill>
                <a:latin typeface="Calibri"/>
              </a:rPr>
              <a:t>Businesses are upskilling their own executives to manage media scrutiny rather than paying agency retainers. That disrupts the traditional PR model, and My PR Partner is built on exactly that shift: training over retainers.</a:t>
            </a:r>
          </a:p>
          <a:p>
            <a:pPr algn="l">
              <a:spcAft>
                <a:spcPts val="1200"/>
              </a:spcAft>
            </a:pPr>
            <a:r>
              <a:rPr sz="1300" b="1">
                <a:solidFill>
                  <a:srgbClr val="07AFBB"/>
                </a:solidFill>
                <a:latin typeface="Calibri"/>
              </a:rPr>
              <a:t>Format: expert commentary  |  Score: 3.05 out of 5</a:t>
            </a:r>
          </a:p>
          <a:p>
            <a:pPr algn="l">
              <a:spcAft>
                <a:spcPts val="1200"/>
              </a:spcAft>
            </a:pPr>
            <a:r>
              <a:rPr sz="1300" b="0">
                <a:solidFill>
                  <a:srgbClr val="4A4A68"/>
                </a:solidFill>
                <a:latin typeface="Calibri"/>
              </a:rPr>
              <a:t>Proof we bring: your traffic and enquiry data showing the move toward training, backed by Lyall's decades of agency experience and the Crisis Masterclass itself as evidence of the pivot.</a:t>
            </a:r>
          </a:p>
          <a:p>
            <a:pPr algn="l">
              <a:spcAft>
                <a:spcPts val="0"/>
              </a:spcAft>
            </a:pPr>
            <a:r>
              <a:rPr sz="1300" b="0">
                <a:solidFill>
                  <a:srgbClr val="4A4A68"/>
                </a:solidFill>
                <a:latin typeface="Calibri"/>
              </a:rPr>
              <a:t>Why it supports the campaign: it positions the whole My PR Partner model and gives the Masterclass a news hook.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7A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15600" cy="548640"/>
          </a:xfrm>
          <a:prstGeom prst="rect">
            <a:avLst/>
          </a:prstGeom>
          <a:noFill/>
        </p:spPr>
        <p:txBody>
          <a:bodyPr wrap="none">
            <a:spAutoFit/>
          </a:bodyPr>
          <a:lstStyle/>
          <a:p>
            <a:pPr algn="l">
              <a:spcAft>
                <a:spcPts val="600"/>
              </a:spcAft>
            </a:pPr>
            <a:r>
              <a:rPr sz="1500" b="1">
                <a:solidFill>
                  <a:srgbClr val="07AFBB"/>
                </a:solidFill>
                <a:latin typeface="Calibri"/>
              </a:rPr>
              <a:t>Angle 3</a:t>
            </a:r>
          </a:p>
        </p:txBody>
      </p:sp>
      <p:sp>
        <p:nvSpPr>
          <p:cNvPr id="4" name="TextBox 3"/>
          <p:cNvSpPr txBox="1"/>
          <p:nvPr/>
        </p:nvSpPr>
        <p:spPr>
          <a:xfrm>
            <a:off x="822960" y="960120"/>
            <a:ext cx="10515600" cy="1188720"/>
          </a:xfrm>
          <a:prstGeom prst="rect">
            <a:avLst/>
          </a:prstGeom>
          <a:noFill/>
        </p:spPr>
        <p:txBody>
          <a:bodyPr wrap="square">
            <a:spAutoFit/>
          </a:bodyPr>
          <a:lstStyle/>
          <a:p>
            <a:pPr algn="l">
              <a:spcAft>
                <a:spcPts val="600"/>
              </a:spcAft>
            </a:pPr>
            <a:r>
              <a:rPr sz="2700" b="1">
                <a:solidFill>
                  <a:srgbClr val="1A2B4A"/>
                </a:solidFill>
                <a:latin typeface="Calibri"/>
              </a:rPr>
              <a:t>Issue vs crisis: the brands ambushed by slow escalation</a:t>
            </a:r>
          </a:p>
        </p:txBody>
      </p:sp>
      <p:sp>
        <p:nvSpPr>
          <p:cNvPr id="5" name="TextBox 4"/>
          <p:cNvSpPr txBox="1"/>
          <p:nvPr/>
        </p:nvSpPr>
        <p:spPr>
          <a:xfrm>
            <a:off x="822960" y="2240280"/>
            <a:ext cx="10515600" cy="4206240"/>
          </a:xfrm>
          <a:prstGeom prst="rect">
            <a:avLst/>
          </a:prstGeom>
          <a:noFill/>
        </p:spPr>
        <p:txBody>
          <a:bodyPr wrap="square">
            <a:spAutoFit/>
          </a:bodyPr>
          <a:lstStyle/>
          <a:p>
            <a:pPr algn="l">
              <a:spcAft>
                <a:spcPts val="1200"/>
              </a:spcAft>
            </a:pPr>
            <a:r>
              <a:rPr sz="1500" b="0">
                <a:solidFill>
                  <a:srgbClr val="1A1A2E"/>
                </a:solidFill>
                <a:latin typeface="Calibri"/>
              </a:rPr>
              <a:t>Local businesses lose control of their public image because leadership teams cannot tell a manageable issue from a genuine crisis, so the public response comes too late. This is core Masterclass territory.</a:t>
            </a:r>
          </a:p>
          <a:p>
            <a:pPr algn="l">
              <a:spcAft>
                <a:spcPts val="1200"/>
              </a:spcAft>
            </a:pPr>
            <a:r>
              <a:rPr sz="1300" b="1">
                <a:solidFill>
                  <a:srgbClr val="07AFBB"/>
                </a:solidFill>
                <a:latin typeface="Calibri"/>
              </a:rPr>
              <a:t>Format: data-led story  |  Score: 2.85 out of 5</a:t>
            </a:r>
          </a:p>
          <a:p>
            <a:pPr algn="l">
              <a:spcAft>
                <a:spcPts val="1200"/>
              </a:spcAft>
            </a:pPr>
            <a:r>
              <a:rPr sz="1300" b="0">
                <a:solidFill>
                  <a:srgbClr val="4A4A68"/>
                </a:solidFill>
                <a:latin typeface="Calibri"/>
              </a:rPr>
              <a:t>Proof we bring: aggregated insights from client work, search volume around crisis escalation questions, and examples of how quickly local issues spiral on social platforms.</a:t>
            </a:r>
          </a:p>
          <a:p>
            <a:pPr algn="l">
              <a:spcAft>
                <a:spcPts val="0"/>
              </a:spcAft>
            </a:pPr>
            <a:r>
              <a:rPr sz="1300" b="0">
                <a:solidFill>
                  <a:srgbClr val="4A4A68"/>
                </a:solidFill>
                <a:latin typeface="Calibri"/>
              </a:rPr>
              <a:t>Why it supports the campaign: it turns the Masterclass's issue-versus-crisis teaching into news, and pairs with the crisis management training article now on your site.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7A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15600" cy="548640"/>
          </a:xfrm>
          <a:prstGeom prst="rect">
            <a:avLst/>
          </a:prstGeom>
          <a:noFill/>
        </p:spPr>
        <p:txBody>
          <a:bodyPr wrap="none">
            <a:spAutoFit/>
          </a:bodyPr>
          <a:lstStyle/>
          <a:p>
            <a:pPr algn="l">
              <a:spcAft>
                <a:spcPts val="600"/>
              </a:spcAft>
            </a:pPr>
            <a:r>
              <a:rPr sz="1500" b="1">
                <a:solidFill>
                  <a:srgbClr val="07AFBB"/>
                </a:solidFill>
                <a:latin typeface="Calibri"/>
              </a:rPr>
              <a:t>Angle 4</a:t>
            </a:r>
          </a:p>
        </p:txBody>
      </p:sp>
      <p:sp>
        <p:nvSpPr>
          <p:cNvPr id="4" name="TextBox 3"/>
          <p:cNvSpPr txBox="1"/>
          <p:nvPr/>
        </p:nvSpPr>
        <p:spPr>
          <a:xfrm>
            <a:off x="822960" y="960120"/>
            <a:ext cx="10515600" cy="1188720"/>
          </a:xfrm>
          <a:prstGeom prst="rect">
            <a:avLst/>
          </a:prstGeom>
          <a:noFill/>
        </p:spPr>
        <p:txBody>
          <a:bodyPr wrap="square">
            <a:spAutoFit/>
          </a:bodyPr>
          <a:lstStyle/>
          <a:p>
            <a:pPr algn="l">
              <a:spcAft>
                <a:spcPts val="600"/>
              </a:spcAft>
            </a:pPr>
            <a:r>
              <a:rPr sz="2700" b="1">
                <a:solidFill>
                  <a:srgbClr val="1A2B4A"/>
                </a:solidFill>
                <a:latin typeface="Calibri"/>
              </a:rPr>
              <a:t>Schools brace for cyclone season with outdated communication plans</a:t>
            </a:r>
          </a:p>
        </p:txBody>
      </p:sp>
      <p:sp>
        <p:nvSpPr>
          <p:cNvPr id="5" name="TextBox 4"/>
          <p:cNvSpPr txBox="1"/>
          <p:nvPr/>
        </p:nvSpPr>
        <p:spPr>
          <a:xfrm>
            <a:off x="822960" y="2240280"/>
            <a:ext cx="10515600" cy="4206240"/>
          </a:xfrm>
          <a:prstGeom prst="rect">
            <a:avLst/>
          </a:prstGeom>
          <a:noFill/>
        </p:spPr>
        <p:txBody>
          <a:bodyPr wrap="square">
            <a:spAutoFit/>
          </a:bodyPr>
          <a:lstStyle/>
          <a:p>
            <a:pPr algn="l">
              <a:spcAft>
                <a:spcPts val="1200"/>
              </a:spcAft>
            </a:pPr>
            <a:r>
              <a:rPr sz="1500" b="0">
                <a:solidFill>
                  <a:srgbClr val="1A1A2E"/>
                </a:solidFill>
                <a:latin typeface="Calibri"/>
              </a:rPr>
              <a:t>When severe weather hits South East Queensland, school leaders fall back on communication protocols that frustrate parents expecting real-time, multi-channel updates.</a:t>
            </a:r>
          </a:p>
          <a:p>
            <a:pPr algn="l">
              <a:spcAft>
                <a:spcPts val="1200"/>
              </a:spcAft>
            </a:pPr>
            <a:r>
              <a:rPr sz="1300" b="1">
                <a:solidFill>
                  <a:srgbClr val="07AFBB"/>
                </a:solidFill>
                <a:latin typeface="Calibri"/>
              </a:rPr>
              <a:t>Format: newsjack (tied to weather events)  |  Score: 2.4 out of 5</a:t>
            </a:r>
          </a:p>
          <a:p>
            <a:pPr algn="l">
              <a:spcAft>
                <a:spcPts val="1200"/>
              </a:spcAft>
            </a:pPr>
            <a:r>
              <a:rPr sz="1300" b="0">
                <a:solidFill>
                  <a:srgbClr val="4A4A68"/>
                </a:solidFill>
                <a:latin typeface="Calibri"/>
              </a:rPr>
              <a:t>Proof we bring: Bureau of Meteorology seasonal outlooks paired with search demand for school crisis communication plans.</a:t>
            </a:r>
          </a:p>
          <a:p>
            <a:pPr algn="l">
              <a:spcAft>
                <a:spcPts val="0"/>
              </a:spcAft>
            </a:pPr>
            <a:r>
              <a:rPr sz="1300" b="0">
                <a:solidFill>
                  <a:srgbClr val="4A4A68"/>
                </a:solidFill>
                <a:latin typeface="Calibri"/>
              </a:rPr>
              <a:t>Why it supports the campaign: strong schools angle, but cyclone season starts in November. We suggest holding this one until October and running it as a planned seasonal 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B4A"/>
        </a:solidFill>
        <a:effectLst/>
      </p:bgPr>
    </p:bg>
    <p:spTree>
      <p:nvGrpSpPr>
        <p:cNvPr id="1" name=""/>
        <p:cNvGrpSpPr/>
        <p:nvPr/>
      </p:nvGrpSpPr>
      <p:grpSpPr/>
      <p:sp>
        <p:nvSpPr>
          <p:cNvPr id="2" name="Rectangle 1"/>
          <p:cNvSpPr/>
          <p:nvPr/>
        </p:nvSpPr>
        <p:spPr>
          <a:xfrm>
            <a:off x="0" y="6693408"/>
            <a:ext cx="12191695" cy="164592"/>
          </a:xfrm>
          <a:prstGeom prst="rect">
            <a:avLst/>
          </a:prstGeom>
          <a:solidFill>
            <a:srgbClr val="07A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none">
            <a:spAutoFit/>
          </a:bodyPr>
          <a:lstStyle/>
          <a:p>
            <a:pPr algn="l">
              <a:spcAft>
                <a:spcPts val="600"/>
              </a:spcAft>
            </a:pPr>
            <a:r>
              <a:rPr sz="3000" b="1">
                <a:solidFill>
                  <a:srgbClr val="FFFFFF"/>
                </a:solidFill>
                <a:latin typeface="Calibri"/>
              </a:rPr>
              <a:t>How it runs from here</a:t>
            </a:r>
          </a:p>
        </p:txBody>
      </p:sp>
      <p:sp>
        <p:nvSpPr>
          <p:cNvPr id="4" name="TextBox 3"/>
          <p:cNvSpPr txBox="1"/>
          <p:nvPr/>
        </p:nvSpPr>
        <p:spPr>
          <a:xfrm>
            <a:off x="822960" y="1554480"/>
            <a:ext cx="10515600" cy="4754880"/>
          </a:xfrm>
          <a:prstGeom prst="rect">
            <a:avLst/>
          </a:prstGeom>
          <a:noFill/>
        </p:spPr>
        <p:txBody>
          <a:bodyPr wrap="square">
            <a:spAutoFit/>
          </a:bodyPr>
          <a:lstStyle/>
          <a:p>
            <a:pPr algn="l">
              <a:spcAft>
                <a:spcPts val="400"/>
              </a:spcAft>
            </a:pPr>
            <a:r>
              <a:rPr sz="1700" b="1">
                <a:solidFill>
                  <a:srgbClr val="C9A84C"/>
                </a:solidFill>
                <a:latin typeface="Calibri"/>
              </a:rPr>
              <a:t>1. You choose the angles.</a:t>
            </a:r>
          </a:p>
          <a:p>
            <a:pPr algn="l">
              <a:spcAft>
                <a:spcPts val="1400"/>
              </a:spcAft>
            </a:pPr>
            <a:r>
              <a:rPr sz="1400" b="0">
                <a:solidFill>
                  <a:srgbClr val="C9D4E4"/>
                </a:solidFill>
                <a:latin typeface="Calibri"/>
              </a:rPr>
              <a:t>Tell us which of the four to run (Angle 1 is already in preparation on our recommendation).</a:t>
            </a:r>
          </a:p>
          <a:p>
            <a:pPr algn="l">
              <a:spcAft>
                <a:spcPts val="400"/>
              </a:spcAft>
            </a:pPr>
            <a:r>
              <a:rPr sz="1700" b="1">
                <a:solidFill>
                  <a:srgbClr val="C9A84C"/>
                </a:solidFill>
                <a:latin typeface="Calibri"/>
              </a:rPr>
              <a:t>2. We build the story.</a:t>
            </a:r>
          </a:p>
          <a:p>
            <a:pPr algn="l">
              <a:spcAft>
                <a:spcPts val="1400"/>
              </a:spcAft>
            </a:pPr>
            <a:r>
              <a:rPr sz="1400" b="0">
                <a:solidFill>
                  <a:srgbClr val="C9D4E4"/>
                </a:solidFill>
                <a:latin typeface="Calibri"/>
              </a:rPr>
              <a:t>A published piece on myprpartner.com plus a tailored pitch for each journalist, written for education, national, small business and marketing media.</a:t>
            </a:r>
          </a:p>
          <a:p>
            <a:pPr algn="l">
              <a:spcAft>
                <a:spcPts val="400"/>
              </a:spcAft>
            </a:pPr>
            <a:r>
              <a:rPr sz="1700" b="1">
                <a:solidFill>
                  <a:srgbClr val="C9A84C"/>
                </a:solidFill>
                <a:latin typeface="Calibri"/>
              </a:rPr>
              <a:t>3. You approve before anything is sent.</a:t>
            </a:r>
          </a:p>
          <a:p>
            <a:pPr algn="l">
              <a:spcAft>
                <a:spcPts val="1400"/>
              </a:spcAft>
            </a:pPr>
            <a:r>
              <a:rPr sz="1400" b="0">
                <a:solidFill>
                  <a:srgbClr val="C9D4E4"/>
                </a:solidFill>
                <a:latin typeface="Calibri"/>
              </a:rPr>
              <a:t>Every pitch goes out from 3P Digital's PR desk on your behalf, and journalist replies route directly to Lyall. Nothing is sent without sign-off.</a:t>
            </a:r>
          </a:p>
          <a:p>
            <a:pPr algn="l">
              <a:spcAft>
                <a:spcPts val="400"/>
              </a:spcAft>
            </a:pPr>
            <a:r>
              <a:rPr sz="1700" b="1">
                <a:solidFill>
                  <a:srgbClr val="C9A84C"/>
                </a:solidFill>
                <a:latin typeface="Calibri"/>
              </a:rPr>
              <a:t>4. It compounds.</a:t>
            </a:r>
          </a:p>
          <a:p>
            <a:pPr algn="l">
              <a:spcAft>
                <a:spcPts val="1400"/>
              </a:spcAft>
            </a:pPr>
            <a:r>
              <a:rPr sz="1400" b="0">
                <a:solidFill>
                  <a:srgbClr val="C9D4E4"/>
                </a:solidFill>
                <a:latin typeface="Calibri"/>
              </a:rPr>
              <a:t>Our monitoring now watches the news cycle daily for moments where Lyall can comment, so the next opportunity finds us, not the other way around.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